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80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144000" y="-457200"/>
            <a:ext cx="2743200" cy="2743200"/>
          </a:xfrm>
          <a:prstGeom prst="ellipse">
            <a:avLst/>
          </a:prstGeom>
          <a:solidFill>
            <a:srgbClr val="2C2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Calibri"/>
              </a:rPr>
              <a:t>NOTROX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060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5865F2"/>
                </a:solidFill>
                <a:latin typeface="Calibri"/>
              </a:rPr>
              <a:t>Gaming Webshop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246120"/>
            <a:ext cx="3657600" cy="4572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3429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9BBBE"/>
                </a:solidFill>
                <a:latin typeface="Calibri"/>
              </a:rPr>
              <a:t>Szoftverfejlesztő vizsgaremek — Projekt Bemutató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669280"/>
            <a:ext cx="12188952" cy="1188720"/>
          </a:xfrm>
          <a:prstGeom prst="rect">
            <a:avLst/>
          </a:prstGeom>
          <a:solidFill>
            <a:srgbClr val="2C2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5806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9BBBE"/>
                </a:solidFill>
                <a:latin typeface="Calibri"/>
              </a:rPr>
              <a:t>Gróf Richárd László  |  Molnár Márk  |  Péjó Kristóf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217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Budapesti Műszaki SZC Egressy Gábor Két Tanítási Nyelvű Technikum  •  2025–2026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Tartalom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865F2"/>
                </a:solidFill>
                <a:latin typeface="Calibri"/>
              </a:rPr>
              <a:t>A bemutató felépítése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1064240" cy="82296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527048"/>
            <a:ext cx="512064" cy="512064"/>
          </a:xfrm>
          <a:prstGeom prst="roundRect">
            <a:avLst>
              <a:gd name="adj" fmla="val 5000"/>
            </a:avLst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52704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630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Backend &amp; Tesztelés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01368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Node.js + Express REST API, JWT, MySQL, Sequelize, automata tesztek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11064240" cy="82296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85800" y="2487168"/>
            <a:ext cx="512064" cy="512064"/>
          </a:xfrm>
          <a:prstGeom prst="roundRect">
            <a:avLst>
              <a:gd name="adj" fmla="val 5000"/>
            </a:avLst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48716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231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Weboldal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761487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Vásárlói felület — böngészés, kosár, rendelés, profil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91840"/>
            <a:ext cx="11064240" cy="82296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85800" y="3447288"/>
            <a:ext cx="512064" cy="512064"/>
          </a:xfrm>
          <a:prstGeom prst="roundRect">
            <a:avLst>
              <a:gd name="adj" fmla="val 5000"/>
            </a:avLst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44728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3832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Webes Admin Felület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721608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Termék, felhasználó és rendeléskezelés böngészőből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251960"/>
            <a:ext cx="11064240" cy="82296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85800" y="4407408"/>
            <a:ext cx="512064" cy="512064"/>
          </a:xfrm>
          <a:prstGeom prst="roundRect">
            <a:avLst>
              <a:gd name="adj" fmla="val 5000"/>
            </a:avLst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440740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343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WPF Admin Alkalmazás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681728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Windows asztali adminisztrációs kliens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212080"/>
            <a:ext cx="11064240" cy="82296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85800" y="5367528"/>
            <a:ext cx="512064" cy="512064"/>
          </a:xfrm>
          <a:prstGeom prst="roundRect">
            <a:avLst>
              <a:gd name="adj" fmla="val 5000"/>
            </a:avLst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536752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303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Avalonia Mobilalkalmazás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641848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Android &amp; Desktop platformfüggetlen admin kliens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Rendszerarchitektúra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865F2"/>
                </a:solidFill>
                <a:latin typeface="Calibri"/>
              </a:rPr>
              <a:t>Három kliens — egy közös REST API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383280" cy="1188720"/>
          </a:xfrm>
          <a:prstGeom prst="roundRect">
            <a:avLst>
              <a:gd name="adj" fmla="val 5000"/>
            </a:avLst>
          </a:prstGeom>
          <a:solidFill>
            <a:srgbClr val="2C2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4630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Weboldal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288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HTML5 / CSS3 / Bootstrap 5.3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1371600"/>
            <a:ext cx="3383280" cy="1188720"/>
          </a:xfrm>
          <a:prstGeom prst="roundRect">
            <a:avLst>
              <a:gd name="adj" fmla="val 5000"/>
            </a:avLst>
          </a:prstGeom>
          <a:solidFill>
            <a:srgbClr val="2C2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43400" y="14173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🖥️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79" y="14630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WPF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79" y="18288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C# / .NET 8 / Windows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1371600"/>
            <a:ext cx="3383280" cy="1188720"/>
          </a:xfrm>
          <a:prstGeom prst="roundRect">
            <a:avLst>
              <a:gd name="adj" fmla="val 5000"/>
            </a:avLst>
          </a:prstGeom>
          <a:solidFill>
            <a:srgbClr val="2C2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92440" y="14173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19" y="14630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Avalonia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19" y="18288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C# / Android &amp; Desktop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2633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865F2"/>
                </a:solidFill>
                <a:latin typeface="Calibri"/>
              </a:rPr>
              <a:t>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7879" y="2633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865F2"/>
                </a:solidFill>
                <a:latin typeface="Calibri"/>
              </a:rPr>
              <a:t>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19" y="2633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865F2"/>
                </a:solidFill>
                <a:latin typeface="Calibri"/>
              </a:rPr>
              <a:t>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063240"/>
            <a:ext cx="11247120" cy="1005840"/>
          </a:xfrm>
          <a:prstGeom prst="roundRect">
            <a:avLst>
              <a:gd name="adj" fmla="val 5000"/>
            </a:avLst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312724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REST API  —  Node.js + Express.js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53872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Hitelesítés: JWT Bearer Token  •  JSON kommunikáció  •  HTTPS kötelező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4133087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865F2"/>
                </a:solidFill>
                <a:latin typeface="Calibri"/>
              </a:rPr>
              <a:t>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28800" y="4572000"/>
            <a:ext cx="2743200" cy="100584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965960" y="46451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🗄️ MySQL Adatbázis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0292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Sequelize ORM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46320" y="4572000"/>
            <a:ext cx="2743200" cy="100584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983480" y="46451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📁 Multer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83480" y="50292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Fájlfeltöltés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4572000"/>
            <a:ext cx="2743200" cy="100584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01000" y="46451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🔐 bcrypt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50292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Jelszóhash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Backend — REST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865F2"/>
                </a:solidFill>
                <a:latin typeface="Calibri"/>
              </a:rPr>
              <a:t>Node.js + Express.js + Sequelize + MySQL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132588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536192"/>
            <a:ext cx="54864" cy="100584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48132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🔐 Hitelesítés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74519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/UserLogin, /UserRegister, /EditUser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926080"/>
            <a:ext cx="5486400" cy="132588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3090672"/>
            <a:ext cx="54864" cy="100584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" y="303580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📦 Termékek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4290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/getproduct, /postproduct, /updateproduct, /deleteproduct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480560"/>
            <a:ext cx="5486400" cy="132588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4645152"/>
            <a:ext cx="54864" cy="100584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" y="459028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🛒 Rendelések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98348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/createOrder, /getMyOrders, /getAllOrders, /updateOrderPhase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371600"/>
            <a:ext cx="5486400" cy="132588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17920" y="1536192"/>
            <a:ext cx="54864" cy="100584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19088" y="148132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📍 Cím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1874519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/AddressRegister, /AddressGets, /EditAddress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2926080"/>
            <a:ext cx="5486400" cy="132588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3090672"/>
            <a:ext cx="54864" cy="100584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19088" y="303580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🏢 Cégek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34290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/getcompany — gyártók listázása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4480560"/>
            <a:ext cx="5486400" cy="132588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17920" y="4645152"/>
            <a:ext cx="54864" cy="100584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19088" y="459028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🖼️ Profil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498348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/uploadPFP — Multer fájlfeltöltés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989320"/>
            <a:ext cx="11247120" cy="685800"/>
          </a:xfrm>
          <a:prstGeom prst="roundRect">
            <a:avLst>
              <a:gd name="adj" fmla="val 5000"/>
            </a:avLst>
          </a:prstGeom>
          <a:solidFill>
            <a:srgbClr val="2C2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" y="6080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7F287"/>
                </a:solidFill>
                <a:latin typeface="Calibri"/>
              </a:rPr>
              <a:t>🔒  Minden védett végpont Bearer JWT tokent igényel  •  Admin végpontokhoz isAdmin: true szükséges  •  HTTPS kötelező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Adatbázis Struktúra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865F2"/>
                </a:solidFill>
                <a:latin typeface="Calibri"/>
              </a:rPr>
              <a:t>MySQL relációs adatbázis — Sequelize 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566160" cy="20574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3566160" cy="45720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4447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0195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id, username, 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774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password (bcrypt)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85292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pfp, isAdmin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371600"/>
            <a:ext cx="3566160" cy="20574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1371600"/>
            <a:ext cx="3566160" cy="457200"/>
          </a:xfrm>
          <a:prstGeom prst="rect">
            <a:avLst/>
          </a:prstGeom>
          <a:solidFill>
            <a:srgbClr val="57F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34840" y="14447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Products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90195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id, name, description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3774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price, ammount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85292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companyId (FK), imgURL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371600"/>
            <a:ext cx="3566160" cy="20574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38160" y="1371600"/>
            <a:ext cx="3566160" cy="457200"/>
          </a:xfrm>
          <a:prstGeom prst="rect">
            <a:avLst/>
          </a:prstGeom>
          <a:solidFill>
            <a:srgbClr val="FEE7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75320" y="14447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Orders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190195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id, date, phase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23774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userId (FK)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285292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addressId (FK)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703320"/>
            <a:ext cx="3566160" cy="20574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57200" y="3703320"/>
            <a:ext cx="3566160" cy="457200"/>
          </a:xfrm>
          <a:prstGeom prst="rect">
            <a:avLst/>
          </a:prstGeom>
          <a:solidFill>
            <a:srgbClr val="ED4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4360" y="377647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OrderItems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23367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id, orderId (FK)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70916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productId (FK)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18464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quantity, priceAtPurchase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0" y="3703320"/>
            <a:ext cx="3566160" cy="20574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297680" y="3703320"/>
            <a:ext cx="3566160" cy="45720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434840" y="377647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Addresses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423367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id, city, zip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470916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address1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518464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userId (FK)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3703320"/>
            <a:ext cx="3566160" cy="20574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8138160" y="3703320"/>
            <a:ext cx="3566160" cy="457200"/>
          </a:xfrm>
          <a:prstGeom prst="rect">
            <a:avLst/>
          </a:prstGeom>
          <a:solidFill>
            <a:srgbClr val="57F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275320" y="377647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Companies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423367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id, name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470916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description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518464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location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Tesztelési Stratégia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7F287"/>
                </a:solidFill>
                <a:latin typeface="Calibri"/>
              </a:rPr>
              <a:t>110 teszteset — 100% sikerességi arány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47120" cy="1188720"/>
          </a:xfrm>
          <a:prstGeom prst="roundRect">
            <a:avLst>
              <a:gd name="adj" fmla="val 5000"/>
            </a:avLst>
          </a:prstGeom>
          <a:solidFill>
            <a:srgbClr val="2C2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4630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5865F2"/>
                </a:solidFill>
                <a:latin typeface="Calibri"/>
              </a:rPr>
              <a:t>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7568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9BBBE"/>
                </a:solidFill>
                <a:latin typeface="Calibri"/>
              </a:rPr>
              <a:t>Manuális web
tesztek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4630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5865F2"/>
                </a:solidFill>
                <a:latin typeface="Calibr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07568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9BBBE"/>
                </a:solidFill>
                <a:latin typeface="Calibri"/>
              </a:rPr>
              <a:t>API automata
tesztek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4630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5865F2"/>
                </a:solidFill>
                <a:latin typeface="Calibri"/>
              </a:rPr>
              <a:t>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07568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9BBBE"/>
                </a:solidFill>
                <a:latin typeface="Calibri"/>
              </a:rPr>
              <a:t>WPF unit
tesztek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14630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5865F2"/>
                </a:solidFill>
                <a:latin typeface="Calibri"/>
              </a:rP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207568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9BBBE"/>
                </a:solidFill>
                <a:latin typeface="Calibri"/>
              </a:rPr>
              <a:t>Avalonia unit
tesztek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743200"/>
            <a:ext cx="5486400" cy="141732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2907792"/>
            <a:ext cx="54864" cy="1097280"/>
          </a:xfrm>
          <a:prstGeom prst="rect">
            <a:avLst/>
          </a:prstGeom>
          <a:solidFill>
            <a:srgbClr val="57F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" y="285292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🖱️ Manuális Tesztek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24612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Chrome DevTools — regisztráció, bejelentkezés, kosár, rendelés, profil, reszponzivitás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743200"/>
            <a:ext cx="5486400" cy="141732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17920" y="2907792"/>
            <a:ext cx="54864" cy="1097280"/>
          </a:xfrm>
          <a:prstGeom prst="rect">
            <a:avLst/>
          </a:prstGeom>
          <a:solidFill>
            <a:srgbClr val="57F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19088" y="285292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⚙️ API Tesztek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324612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Jest + Supertest — REST végpontok HTTP kódjai és üzenetei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43400"/>
            <a:ext cx="5486400" cy="141732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57200" y="4507992"/>
            <a:ext cx="54864" cy="1097280"/>
          </a:xfrm>
          <a:prstGeom prst="rect">
            <a:avLst/>
          </a:prstGeom>
          <a:solidFill>
            <a:srgbClr val="57F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8368" y="445312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🔬 Unit Tesztek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84632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MSTest (.NET) — OrdersClass.TotalPrice számítás, ServerConnection biztonság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343400"/>
            <a:ext cx="5486400" cy="141732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217920" y="4507992"/>
            <a:ext cx="54864" cy="1097280"/>
          </a:xfrm>
          <a:prstGeom prst="rect">
            <a:avLst/>
          </a:prstGeom>
          <a:solidFill>
            <a:srgbClr val="57F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19088" y="445312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🔒 Biztonsági Tesztek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484632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HTTPS kényszer, JWT validáció, jogosultságvédelem, auth-check.js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Tesztelési Eredmények &amp; Javított Hibák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865F2"/>
                </a:solidFill>
                <a:latin typeface="Calibri"/>
              </a:rPr>
              <a:t>Minden kritikus hiba éles kiadás előtt javítva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150876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536192"/>
            <a:ext cx="54864" cy="1188720"/>
          </a:xfrm>
          <a:prstGeom prst="rect">
            <a:avLst/>
          </a:prstGeom>
          <a:solidFill>
            <a:srgbClr val="ED4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1792" y="1508760"/>
            <a:ext cx="777240" cy="320040"/>
          </a:xfrm>
          <a:prstGeom prst="roundRect">
            <a:avLst>
              <a:gd name="adj" fmla="val 5000"/>
            </a:avLst>
          </a:prstGeom>
          <a:solidFill>
            <a:srgbClr val="ED4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150876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BUG-01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508760"/>
            <a:ext cx="1005840" cy="320040"/>
          </a:xfrm>
          <a:prstGeom prst="roundRect">
            <a:avLst>
              <a:gd name="adj" fmla="val 5000"/>
            </a:avLst>
          </a:prstGeom>
          <a:solidFill>
            <a:srgbClr val="57F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150876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23272A"/>
                </a:solidFill>
                <a:latin typeface="Calibri"/>
              </a:rPr>
              <a:t>✅ Javítva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48132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Kosárkulcs ütközés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938528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Különböző userek kosara felülírta egymást — Javítás: cart_{userId} kulcs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71600"/>
            <a:ext cx="5486400" cy="150876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17920" y="1536192"/>
            <a:ext cx="54864" cy="1188720"/>
          </a:xfrm>
          <a:prstGeom prst="rect">
            <a:avLst/>
          </a:prstGeom>
          <a:solidFill>
            <a:srgbClr val="ED4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382512" y="1508760"/>
            <a:ext cx="777240" cy="320040"/>
          </a:xfrm>
          <a:prstGeom prst="roundRect">
            <a:avLst>
              <a:gd name="adj" fmla="val 5000"/>
            </a:avLst>
          </a:prstGeom>
          <a:solidFill>
            <a:srgbClr val="ED4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82512" y="150876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BUG-02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0" y="1508760"/>
            <a:ext cx="1005840" cy="320040"/>
          </a:xfrm>
          <a:prstGeom prst="roundRect">
            <a:avLst>
              <a:gd name="adj" fmla="val 5000"/>
            </a:avLst>
          </a:prstGeom>
          <a:solidFill>
            <a:srgbClr val="57F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515600" y="150876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23272A"/>
                </a:solidFill>
                <a:latin typeface="Calibri"/>
              </a:rPr>
              <a:t>✅ Javítva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79" y="148132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Admin jogkör bypass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1938528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Normál user beléphetett az admin panelre — Javítás: auth-check.js megerősítve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063240"/>
            <a:ext cx="5486400" cy="150876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3227832"/>
            <a:ext cx="54864" cy="1188720"/>
          </a:xfrm>
          <a:prstGeom prst="rect">
            <a:avLst/>
          </a:prstGeom>
          <a:solidFill>
            <a:srgbClr val="ED4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21792" y="3200400"/>
            <a:ext cx="777240" cy="320040"/>
          </a:xfrm>
          <a:prstGeom prst="roundRect">
            <a:avLst>
              <a:gd name="adj" fmla="val 5000"/>
            </a:avLst>
          </a:prstGeom>
          <a:solidFill>
            <a:srgbClr val="ED4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1792" y="320040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BUG-03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0" y="3200400"/>
            <a:ext cx="1005840" cy="320040"/>
          </a:xfrm>
          <a:prstGeom prst="roundRect">
            <a:avLst>
              <a:gd name="adj" fmla="val 5000"/>
            </a:avLst>
          </a:prstGeom>
          <a:solidFill>
            <a:srgbClr val="57F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754880" y="320040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23272A"/>
                </a:solidFill>
                <a:latin typeface="Calibri"/>
              </a:rPr>
              <a:t>✅ Javítva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31729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Lista nem frissült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630168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Termék törlése után a lista nem frissült automatikusan — Javítás: async reload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063240"/>
            <a:ext cx="5486400" cy="150876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17920" y="3227832"/>
            <a:ext cx="54864" cy="1188720"/>
          </a:xfrm>
          <a:prstGeom prst="rect">
            <a:avLst/>
          </a:prstGeom>
          <a:solidFill>
            <a:srgbClr val="ED4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382512" y="3200400"/>
            <a:ext cx="777240" cy="320040"/>
          </a:xfrm>
          <a:prstGeom prst="roundRect">
            <a:avLst>
              <a:gd name="adj" fmla="val 5000"/>
            </a:avLst>
          </a:prstGeom>
          <a:solidFill>
            <a:srgbClr val="ED4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382512" y="320040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BUG-04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515600" y="3200400"/>
            <a:ext cx="1005840" cy="320040"/>
          </a:xfrm>
          <a:prstGeom prst="roundRect">
            <a:avLst>
              <a:gd name="adj" fmla="val 5000"/>
            </a:avLst>
          </a:prstGeom>
          <a:solidFill>
            <a:srgbClr val="57F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515600" y="320040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23272A"/>
                </a:solidFill>
                <a:latin typeface="Calibri"/>
              </a:rPr>
              <a:t>✅ Javítva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79" y="31729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Kártyalejárat validáció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19088" y="3630168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00 hónapot engedett a lejárati dátumnál — Javítás: 01-12 ellenőrzés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754880"/>
            <a:ext cx="5486400" cy="150876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57200" y="4919472"/>
            <a:ext cx="54864" cy="1188720"/>
          </a:xfrm>
          <a:prstGeom prst="rect">
            <a:avLst/>
          </a:prstGeom>
          <a:solidFill>
            <a:srgbClr val="ED4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21792" y="4892040"/>
            <a:ext cx="777240" cy="320040"/>
          </a:xfrm>
          <a:prstGeom prst="roundRect">
            <a:avLst>
              <a:gd name="adj" fmla="val 5000"/>
            </a:avLst>
          </a:prstGeom>
          <a:solidFill>
            <a:srgbClr val="ED4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21792" y="489204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BUG-05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54880" y="4892040"/>
            <a:ext cx="1005840" cy="320040"/>
          </a:xfrm>
          <a:prstGeom prst="roundRect">
            <a:avLst>
              <a:gd name="adj" fmla="val 5000"/>
            </a:avLst>
          </a:prstGeom>
          <a:solidFill>
            <a:srgbClr val="57F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754880" y="48920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23272A"/>
                </a:solidFill>
                <a:latin typeface="Calibri"/>
              </a:rPr>
              <a:t>✅ Javítva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8760" y="48646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HTTP kapcsolat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5321808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ServerConnection nem dobott kivételt HTTP URL esetén — Javítás: ArgumentException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17920" y="4754880"/>
            <a:ext cx="5486400" cy="150876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217920" y="4919472"/>
            <a:ext cx="54864" cy="1188720"/>
          </a:xfrm>
          <a:prstGeom prst="rect">
            <a:avLst/>
          </a:prstGeom>
          <a:solidFill>
            <a:srgbClr val="ED4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6382512" y="4892040"/>
            <a:ext cx="777240" cy="320040"/>
          </a:xfrm>
          <a:prstGeom prst="roundRect">
            <a:avLst>
              <a:gd name="adj" fmla="val 5000"/>
            </a:avLst>
          </a:prstGeom>
          <a:solidFill>
            <a:srgbClr val="ED4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382512" y="489204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BUG-06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515600" y="4892040"/>
            <a:ext cx="1005840" cy="320040"/>
          </a:xfrm>
          <a:prstGeom prst="roundRect">
            <a:avLst>
              <a:gd name="adj" fmla="val 5000"/>
            </a:avLst>
          </a:prstGeom>
          <a:solidFill>
            <a:srgbClr val="57F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0515600" y="48920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23272A"/>
                </a:solidFill>
                <a:latin typeface="Calibri"/>
              </a:rPr>
              <a:t>✅ Javítva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69479" y="48646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NullReference hiba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19088" y="5321808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OrdersClass.TotalPrice null Items esetén crashelt — Javítás: null-safe operátor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926080" cy="384048"/>
          </a:xfrm>
          <a:prstGeom prst="roundRect">
            <a:avLst>
              <a:gd name="adj" fmla="val 5000"/>
            </a:avLst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SECTION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Testing &amp; 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865F2"/>
                </a:solidFill>
                <a:latin typeface="Calibri"/>
              </a:rPr>
              <a:t>What we built and how we verified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10512"/>
            <a:ext cx="11247120" cy="4572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1993392"/>
            <a:ext cx="5486400" cy="13716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2130552"/>
            <a:ext cx="54864" cy="1097280"/>
          </a:xfrm>
          <a:prstGeom prst="rect">
            <a:avLst/>
          </a:prstGeom>
          <a:solidFill>
            <a:srgbClr val="57F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208483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🔗  REST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468880"/>
            <a:ext cx="51206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9BBBE"/>
                </a:solidFill>
                <a:latin typeface="Calibri"/>
              </a:rPr>
              <a:t>Node.js + Express.js backend with 8+ endpoint groups covering authentication, products, orders, addresses and file uploads. All protected routes require a valid JWT Bearer token.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993392"/>
            <a:ext cx="5486400" cy="13716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17920" y="2130552"/>
            <a:ext cx="54864" cy="1097280"/>
          </a:xfrm>
          <a:prstGeom prst="rect">
            <a:avLst/>
          </a:prstGeom>
          <a:solidFill>
            <a:srgbClr val="57F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19088" y="208483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🗄️  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468880"/>
            <a:ext cx="51206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9BBBE"/>
                </a:solidFill>
                <a:latin typeface="Calibri"/>
              </a:rPr>
              <a:t>MySQL relational database managed via Sequelize ORM. Six core tables: Users, Products, Orders, OrderItems, Addresses, Companies — fully normalised with foreign key relations.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502152"/>
            <a:ext cx="5486400" cy="13716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3639312"/>
            <a:ext cx="54864" cy="1097280"/>
          </a:xfrm>
          <a:prstGeom prst="rect">
            <a:avLst/>
          </a:prstGeom>
          <a:solidFill>
            <a:srgbClr val="57F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" y="359359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🔐 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977639"/>
            <a:ext cx="51206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9BBBE"/>
                </a:solidFill>
                <a:latin typeface="Calibri"/>
              </a:rPr>
              <a:t>bcrypt password hashing, JWT authentication, HTTPS enforcement, and role-based access control via isAdmin flag. HTTP connections are rejected at the connection layer.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502152"/>
            <a:ext cx="5486400" cy="13716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17920" y="3639312"/>
            <a:ext cx="54864" cy="1097280"/>
          </a:xfrm>
          <a:prstGeom prst="rect">
            <a:avLst/>
          </a:prstGeom>
          <a:solidFill>
            <a:srgbClr val="57F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19088" y="359359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✅  Testing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3977639"/>
            <a:ext cx="51206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9BBBE"/>
                </a:solidFill>
                <a:latin typeface="Calibri"/>
              </a:rPr>
              <a:t>110 test cases with 100% pass rate. Manual UI tests (40), automated API tests with Jest + Supertest (22), and MSTest unit tests for WPF and Avalonia (24+24).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010912"/>
            <a:ext cx="5486400" cy="13716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57200" y="5148072"/>
            <a:ext cx="54864" cy="1097280"/>
          </a:xfrm>
          <a:prstGeom prst="rect">
            <a:avLst/>
          </a:prstGeom>
          <a:solidFill>
            <a:srgbClr val="57F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8368" y="510235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🐛  Bug Fixes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486400"/>
            <a:ext cx="51206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9BBBE"/>
                </a:solidFill>
                <a:latin typeface="Calibri"/>
              </a:rPr>
              <a:t>6 critical bugs identified and resolved before release — including cart key collision, admin bypass, async list refresh, card date validation, HTTP rejection, and null-safe order total.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5010912"/>
            <a:ext cx="5486400" cy="13716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17920" y="5148072"/>
            <a:ext cx="54864" cy="1097280"/>
          </a:xfrm>
          <a:prstGeom prst="rect">
            <a:avLst/>
          </a:prstGeom>
          <a:solidFill>
            <a:srgbClr val="57F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19088" y="510235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📊  Coverage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5486400"/>
            <a:ext cx="51206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9BBBE"/>
                </a:solidFill>
                <a:latin typeface="Calibri"/>
              </a:rPr>
              <a:t>All major user flows tested end-to-end: registration, login, product browsing, cart management, order placement, and admin operations across all three client platforms.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Weboldal — notrox.hu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865F2"/>
                </a:solidFill>
                <a:latin typeface="Calibri"/>
              </a:rPr>
              <a:t>Vásárlói frontend — HTML5 / CSS3 / Bootstrap 5.3 / JavaScript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71600"/>
            <a:ext cx="2697480" cy="224028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2697480" cy="384048"/>
          </a:xfrm>
          <a:prstGeom prst="rect">
            <a:avLst/>
          </a:prstGeom>
          <a:solidFill>
            <a:srgbClr val="2C2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865F2"/>
                </a:solidFill>
                <a:latin typeface="Calibri"/>
              </a:rPr>
              <a:t>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Főoldal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4028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Termékkatégoriák, értékajánlatok, CTA gomb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371600"/>
            <a:ext cx="2697480" cy="224028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91840" y="1371600"/>
            <a:ext cx="2697480" cy="384048"/>
          </a:xfrm>
          <a:prstGeom prst="rect">
            <a:avLst/>
          </a:prstGeom>
          <a:solidFill>
            <a:srgbClr val="2C2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0" y="14173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865F2"/>
                </a:solidFill>
                <a:latin typeface="Calibri"/>
              </a:rPr>
              <a:t>/register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182880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Regisztráció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24028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Fiók létrehozása, ÁSZF elfogadás, validáció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371600"/>
            <a:ext cx="2697480" cy="224028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17920" y="1371600"/>
            <a:ext cx="2697480" cy="384048"/>
          </a:xfrm>
          <a:prstGeom prst="rect">
            <a:avLst/>
          </a:prstGeom>
          <a:solidFill>
            <a:srgbClr val="2C2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09360" y="14173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865F2"/>
                </a:solidFill>
                <a:latin typeface="Calibri"/>
              </a:rPr>
              <a:t>/login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82880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Bejelentkezés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24028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JWT token generálás, sessionStorage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1371600"/>
            <a:ext cx="2697480" cy="224028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144000" y="1371600"/>
            <a:ext cx="2697480" cy="384048"/>
          </a:xfrm>
          <a:prstGeom prst="rect">
            <a:avLst/>
          </a:prstGeom>
          <a:solidFill>
            <a:srgbClr val="2C2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35440" y="14173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865F2"/>
                </a:solidFill>
                <a:latin typeface="Calibri"/>
              </a:rPr>
              <a:t>/products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82880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Termékek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24028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Szűrés, keresés, márka filter, kosárba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840480"/>
            <a:ext cx="2697480" cy="224028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65760" y="3840480"/>
            <a:ext cx="2697480" cy="384048"/>
          </a:xfrm>
          <a:prstGeom prst="rect">
            <a:avLst/>
          </a:prstGeom>
          <a:solidFill>
            <a:srgbClr val="2C2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" y="38862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865F2"/>
                </a:solidFill>
                <a:latin typeface="Calibri"/>
              </a:rPr>
              <a:t>/cart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29768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Kosár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70916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Mennyiség kezelés, ÁFA számítás, rendelés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91840" y="3840480"/>
            <a:ext cx="2697480" cy="224028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91840" y="3840480"/>
            <a:ext cx="2697480" cy="384048"/>
          </a:xfrm>
          <a:prstGeom prst="rect">
            <a:avLst/>
          </a:prstGeom>
          <a:solidFill>
            <a:srgbClr val="2C2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83280" y="38862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865F2"/>
                </a:solidFill>
                <a:latin typeface="Calibri"/>
              </a:rPr>
              <a:t>/profil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429768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Profil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470916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Adatok, profilkép, jelszó, cím kezelés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3840480"/>
            <a:ext cx="2697480" cy="224028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17920" y="3840480"/>
            <a:ext cx="2697480" cy="384048"/>
          </a:xfrm>
          <a:prstGeom prst="rect">
            <a:avLst/>
          </a:prstGeom>
          <a:solidFill>
            <a:srgbClr val="2C2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09360" y="38862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865F2"/>
                </a:solidFill>
                <a:latin typeface="Calibri"/>
              </a:rPr>
              <a:t>/recentorders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429768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Rendelések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70916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Előzmények, állapotkövetés, PDF számla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40480"/>
            <a:ext cx="2697480" cy="224028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9144000" y="3840480"/>
            <a:ext cx="2697480" cy="384048"/>
          </a:xfrm>
          <a:prstGeom prst="rect">
            <a:avLst/>
          </a:prstGeom>
          <a:solidFill>
            <a:srgbClr val="2C2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235440" y="38862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865F2"/>
                </a:solidFill>
                <a:latin typeface="Calibri"/>
              </a:rPr>
              <a:t>/aboutus + /contact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40" y="429768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Info oldalak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470916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Rólunk, kapcsolat, Google Maps térkép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Regisztráció &amp; Bejelentkezés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865F2"/>
                </a:solidFill>
                <a:latin typeface="Calibri"/>
              </a:rPr>
              <a:t>JWT alapú azonosítás — sessionStorage munkamenet-kezelés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5394960" cy="50292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394960" cy="45720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8074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📝  Regisztráció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920240"/>
            <a:ext cx="320040" cy="320040"/>
          </a:xfrm>
          <a:prstGeom prst="ellipse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9202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193852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Felhasználónév megadása (kötelező)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514600"/>
            <a:ext cx="320040" cy="320040"/>
          </a:xfrm>
          <a:prstGeom prst="ellipse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51460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253288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E-mail cím (@ kötelező, egyedi)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108960"/>
            <a:ext cx="320040" cy="320040"/>
          </a:xfrm>
          <a:prstGeom prst="ellipse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310896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312724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Jelszó (min. 8 karakter)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3703320"/>
            <a:ext cx="320040" cy="320040"/>
          </a:xfrm>
          <a:prstGeom prst="ellipse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37033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72160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ÁSZF elfogadása (jelölőnégyzet)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297680"/>
            <a:ext cx="320040" cy="320040"/>
          </a:xfrm>
          <a:prstGeom prst="ellipse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2976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" y="431596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Ha minden mező üres → gomb inaktív</a:t>
            </a:r>
          </a:p>
        </p:txBody>
      </p:sp>
      <p:sp>
        <p:nvSpPr>
          <p:cNvPr id="23" name="Oval 22"/>
          <p:cNvSpPr/>
          <p:nvPr/>
        </p:nvSpPr>
        <p:spPr>
          <a:xfrm>
            <a:off x="640080" y="4892040"/>
            <a:ext cx="320040" cy="320040"/>
          </a:xfrm>
          <a:prstGeom prst="ellipse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4892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4910327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Ha e-mail már létezik → hibaüzenet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" y="5486400"/>
            <a:ext cx="320040" cy="320040"/>
          </a:xfrm>
          <a:prstGeom prst="ellipse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" y="548640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" y="550468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Sikeres regisztráció → bejelentkezési oldal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1325880"/>
            <a:ext cx="5394960" cy="50292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309360" y="1325880"/>
            <a:ext cx="5394960" cy="457200"/>
          </a:xfrm>
          <a:prstGeom prst="rect">
            <a:avLst/>
          </a:prstGeom>
          <a:solidFill>
            <a:srgbClr val="57F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92240" y="138074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🔑  Bejelentkezés</a:t>
            </a:r>
          </a:p>
        </p:txBody>
      </p:sp>
      <p:sp>
        <p:nvSpPr>
          <p:cNvPr id="32" name="Oval 31"/>
          <p:cNvSpPr/>
          <p:nvPr/>
        </p:nvSpPr>
        <p:spPr>
          <a:xfrm>
            <a:off x="6492240" y="1920240"/>
            <a:ext cx="320040" cy="320040"/>
          </a:xfrm>
          <a:prstGeom prst="ellipse">
            <a:avLst/>
          </a:prstGeom>
          <a:solidFill>
            <a:srgbClr val="57F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92240" y="19202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23272A"/>
                </a:solidFill>
                <a:latin typeface="Calibr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193852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Felhasználónév + jelszó megadása</a:t>
            </a:r>
          </a:p>
        </p:txBody>
      </p:sp>
      <p:sp>
        <p:nvSpPr>
          <p:cNvPr id="35" name="Oval 34"/>
          <p:cNvSpPr/>
          <p:nvPr/>
        </p:nvSpPr>
        <p:spPr>
          <a:xfrm>
            <a:off x="6492240" y="2514600"/>
            <a:ext cx="320040" cy="320040"/>
          </a:xfrm>
          <a:prstGeom prst="ellipse">
            <a:avLst/>
          </a:prstGeom>
          <a:solidFill>
            <a:srgbClr val="57F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92240" y="251460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23272A"/>
                </a:solidFill>
                <a:latin typeface="Calibri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31152" y="253288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Szerver ellenőrzi az adatokat</a:t>
            </a:r>
          </a:p>
        </p:txBody>
      </p:sp>
      <p:sp>
        <p:nvSpPr>
          <p:cNvPr id="38" name="Oval 37"/>
          <p:cNvSpPr/>
          <p:nvPr/>
        </p:nvSpPr>
        <p:spPr>
          <a:xfrm>
            <a:off x="6492240" y="3108960"/>
            <a:ext cx="320040" cy="320040"/>
          </a:xfrm>
          <a:prstGeom prst="ellipse">
            <a:avLst/>
          </a:prstGeom>
          <a:solidFill>
            <a:srgbClr val="57F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92240" y="310896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23272A"/>
                </a:solidFill>
                <a:latin typeface="Calibri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31152" y="312724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JWT token generálódik → sessionStorage</a:t>
            </a:r>
          </a:p>
        </p:txBody>
      </p:sp>
      <p:sp>
        <p:nvSpPr>
          <p:cNvPr id="41" name="Oval 40"/>
          <p:cNvSpPr/>
          <p:nvPr/>
        </p:nvSpPr>
        <p:spPr>
          <a:xfrm>
            <a:off x="6492240" y="3703320"/>
            <a:ext cx="320040" cy="320040"/>
          </a:xfrm>
          <a:prstGeom prst="ellipse">
            <a:avLst/>
          </a:prstGeom>
          <a:solidFill>
            <a:srgbClr val="57F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92240" y="37033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23272A"/>
                </a:solidFill>
                <a:latin typeface="Calibri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31152" y="372160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Az oldal ettől kezdve 'emlékszik' ránk</a:t>
            </a:r>
          </a:p>
        </p:txBody>
      </p:sp>
      <p:sp>
        <p:nvSpPr>
          <p:cNvPr id="44" name="Oval 43"/>
          <p:cNvSpPr/>
          <p:nvPr/>
        </p:nvSpPr>
        <p:spPr>
          <a:xfrm>
            <a:off x="6492240" y="4297680"/>
            <a:ext cx="320040" cy="320040"/>
          </a:xfrm>
          <a:prstGeom prst="ellipse">
            <a:avLst/>
          </a:prstGeom>
          <a:solidFill>
            <a:srgbClr val="57F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492240" y="42976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23272A"/>
                </a:solidFill>
                <a:latin typeface="Calibr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31152" y="431596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Védett oldalak: auth-check.js ellenőrzi</a:t>
            </a:r>
          </a:p>
        </p:txBody>
      </p:sp>
      <p:sp>
        <p:nvSpPr>
          <p:cNvPr id="47" name="Oval 46"/>
          <p:cNvSpPr/>
          <p:nvPr/>
        </p:nvSpPr>
        <p:spPr>
          <a:xfrm>
            <a:off x="6492240" y="4892040"/>
            <a:ext cx="320040" cy="320040"/>
          </a:xfrm>
          <a:prstGeom prst="ellipse">
            <a:avLst/>
          </a:prstGeom>
          <a:solidFill>
            <a:srgbClr val="57F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92240" y="4892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23272A"/>
                </a:solidFill>
                <a:latin typeface="Calibri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31152" y="4910327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Bejelentkezett user → /profil oldal</a:t>
            </a:r>
          </a:p>
        </p:txBody>
      </p:sp>
      <p:sp>
        <p:nvSpPr>
          <p:cNvPr id="50" name="Oval 49"/>
          <p:cNvSpPr/>
          <p:nvPr/>
        </p:nvSpPr>
        <p:spPr>
          <a:xfrm>
            <a:off x="6492240" y="5486400"/>
            <a:ext cx="320040" cy="320040"/>
          </a:xfrm>
          <a:prstGeom prst="ellipse">
            <a:avLst/>
          </a:prstGeom>
          <a:solidFill>
            <a:srgbClr val="57F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492240" y="548640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23272A"/>
                </a:solidFill>
                <a:latin typeface="Calibri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31152" y="550468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Kijelentkezés → token törlése → főoldal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Termékek &amp; Kosár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865F2"/>
                </a:solidFill>
                <a:latin typeface="Calibri"/>
              </a:rPr>
              <a:t>Böngészés → Szűrés → Kosár → Fizetés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5394960" cy="50292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394960" cy="45720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8074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🛍️  Termékek (/products)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20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▸  Márka szűrő (SteelSeries, Logitech, HyperX...)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14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▸  Névkeresés valós időben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▸  Ár alapú szűrés (0 – 8.000.000 Ft)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703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▸  Termék kártya: kép, név, gyártó, ár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97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▸  'Elfogadott' badge ha raktáron van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892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▸  Kosárba gomb → toast visszajelzés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486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▸  Kosár ikon számlálóval a navigációban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325880"/>
            <a:ext cx="5394960" cy="50292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309360" y="1325880"/>
            <a:ext cx="5394960" cy="457200"/>
          </a:xfrm>
          <a:prstGeom prst="rect">
            <a:avLst/>
          </a:prstGeom>
          <a:solidFill>
            <a:srgbClr val="FEE7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138074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272A"/>
                </a:solidFill>
                <a:latin typeface="Calibri"/>
              </a:rPr>
              <a:t>🛒  Kosár (/cart)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1920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▸  localStorage tárolja (cart_{userId})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514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▸  Bezárás után is megmarad a kosár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▸  + / – gombokkal mennyiség állítás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703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▸  0 db → termék automatikusan törlődik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297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▸  × gombbal manuális törlés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892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▸  Bruttó / Nettó / ÁFA (27%) összesítő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5486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▸  Max. készlet ellenőrzés alert-tel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Rendelés &amp; Profil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865F2"/>
                </a:solidFill>
                <a:latin typeface="Calibri"/>
              </a:rPr>
              <a:t>Biztonságos vásárlás — személyes fiókkezelés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5394960" cy="50292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394960" cy="457200"/>
          </a:xfrm>
          <a:prstGeom prst="rect">
            <a:avLst/>
          </a:prstGeom>
          <a:solidFill>
            <a:srgbClr val="57F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8074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💳  Rendelés Leadása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20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B9BBBE"/>
                </a:solidFill>
                <a:latin typeface="Calibri"/>
              </a:rPr>
              <a:t>▸  Bejelentkezés szükséges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5059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B9BBBE"/>
                </a:solidFill>
                <a:latin typeface="Calibri"/>
              </a:rPr>
              <a:t>▸  Szállítási cím kötelező (figyelmeztetés)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8094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B9BBBE"/>
                </a:solidFill>
                <a:latin typeface="Calibri"/>
              </a:rPr>
              <a:t>▸  Bankkártya: kártyabirtokos neve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51129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B9BBBE"/>
                </a:solidFill>
                <a:latin typeface="Calibri"/>
              </a:rPr>
              <a:t>▸  16 jegyű kártyaszám (auto formázás)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04164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B9BBBE"/>
                </a:solidFill>
                <a:latin typeface="Calibri"/>
              </a:rPr>
              <a:t>▸  Lejárat MM/ÉÉ (01-12 validáció)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5720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B9BBBE"/>
                </a:solidFill>
                <a:latin typeface="Calibri"/>
              </a:rPr>
              <a:t>▸  CVV/CVC 3 számjegy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0235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B9BBBE"/>
                </a:solidFill>
                <a:latin typeface="Calibri"/>
              </a:rPr>
              <a:t>▸  Sikeres rendelés → /success oldal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63270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B9BBBE"/>
                </a:solidFill>
                <a:latin typeface="Calibri"/>
              </a:rPr>
              <a:t>▸  Kosár törlődik a localStorage-ból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16305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B9BBBE"/>
                </a:solidFill>
                <a:latin typeface="Calibri"/>
              </a:rPr>
              <a:t>▸  PDF számla letölthető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325880"/>
            <a:ext cx="5394960" cy="50292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360" y="1325880"/>
            <a:ext cx="5394960" cy="45720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138074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👤  Profil (/profil)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1920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B9BBBE"/>
                </a:solidFill>
                <a:latin typeface="Calibri"/>
              </a:rPr>
              <a:t>▸  Felhasználónév és e-mail szerkesztés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45059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B9BBBE"/>
                </a:solidFill>
                <a:latin typeface="Calibri"/>
              </a:rPr>
              <a:t>▸  Mentés pipa ikonnal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298094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B9BBBE"/>
                </a:solidFill>
                <a:latin typeface="Calibri"/>
              </a:rPr>
              <a:t>▸  Jelszócsere: jelenlegi + új jelszó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351129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B9BBBE"/>
                </a:solidFill>
                <a:latin typeface="Calibri"/>
              </a:rPr>
              <a:t>▸  Profilkép feltöltés (JPG, JPEG, PNG)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04164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B9BBBE"/>
                </a:solidFill>
                <a:latin typeface="Calibri"/>
              </a:rPr>
              <a:t>▸  Multer kezeli a feltöltést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5720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B9BBBE"/>
                </a:solidFill>
                <a:latin typeface="Calibri"/>
              </a:rPr>
              <a:t>▸  Szállítási cím kezelése (/address)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510235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B9BBBE"/>
                </a:solidFill>
                <a:latin typeface="Calibri"/>
              </a:rPr>
              <a:t>▸  Számlázási cím külön kezelhető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563270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B9BBBE"/>
                </a:solidFill>
                <a:latin typeface="Calibri"/>
              </a:rPr>
              <a:t>▸  Rendeléstörténet (/recentorders)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616305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B9BBBE"/>
                </a:solidFill>
                <a:latin typeface="Calibri"/>
              </a:rPr>
              <a:t>▸  6 rendelési állapot nyomon követhető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Webes Adminisztrációs Felület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865F2"/>
                </a:solidFill>
                <a:latin typeface="Calibri"/>
              </a:rPr>
              <a:t>notrox.hu/admin — isAdmin: true jogkör + JWT + sessionStorage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242316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486400" cy="41148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🔑  Admin Bejelentkezés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 Csak /admin útvonalon érhető 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49424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 isAdmin = true szükséges az adatbázisban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24327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 JWT token → sessionStorage tárolja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9923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 authcheck.js védi az összes admin oldalt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74135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 LOGOUT → token törlés → átirányítás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71600"/>
            <a:ext cx="5486400" cy="242316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17920" y="1371600"/>
            <a:ext cx="5486400" cy="411480"/>
          </a:xfrm>
          <a:prstGeom prst="rect">
            <a:avLst/>
          </a:prstGeom>
          <a:solidFill>
            <a:srgbClr val="ED4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55080" y="141732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👥  Felhasználók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874519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 Real-time kereső (név / e-mail alapján)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49424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 Szállítási és számlázási cím megtekintése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624327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 Glassmorphism stílusú modal ablak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9923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 Felhasználó törlése: 'DELETE' begépelése kötelező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977639"/>
            <a:ext cx="5486400" cy="242316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3977639"/>
            <a:ext cx="5486400" cy="411480"/>
          </a:xfrm>
          <a:prstGeom prst="rect">
            <a:avLst/>
          </a:prstGeom>
          <a:solidFill>
            <a:srgbClr val="57F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4023359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📦  Termékek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480559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 Teljes kínálat listában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855464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 Inline szerkesztés: ceruza ikon → beviteli mező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23036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 Mentés: zöld pipa → aszinkron PUT kérés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605271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 Új termék hozzáadása (/product-add)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980175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 Termék törlése megerősítő modallal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977639"/>
            <a:ext cx="5486400" cy="242316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17920" y="3977639"/>
            <a:ext cx="5486400" cy="411480"/>
          </a:xfrm>
          <a:prstGeom prst="rect">
            <a:avLst/>
          </a:prstGeom>
          <a:solidFill>
            <a:srgbClr val="FEE7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355080" y="4023359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272A"/>
                </a:solidFill>
                <a:latin typeface="Calibri"/>
              </a:rPr>
              <a:t>📋  Rendelések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480559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 Összes rendelés időrendben (legfrissebb felül)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855464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 Rendelési fázis módosítása: ceruza → dropdown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23036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 Állapotok: Feldolgozás → Kiszállítva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605271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 Vásárló azonnal látja a frissítést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980175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▸  Mobilon kártya alapú nézet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926080" cy="384048"/>
          </a:xfrm>
          <a:prstGeom prst="roundRect">
            <a:avLst>
              <a:gd name="adj" fmla="val 5000"/>
            </a:avLst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SECTION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Website &amp; Web Admin Panel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865F2"/>
                </a:solidFill>
                <a:latin typeface="Calibri"/>
              </a:rPr>
              <a:t>Customer-facing storefront and browser-based administration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10512"/>
            <a:ext cx="11247120" cy="4572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1993392"/>
            <a:ext cx="5486400" cy="13716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2130552"/>
            <a:ext cx="54864" cy="109728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208483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🌐  Customer Website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468880"/>
            <a:ext cx="51206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9BBBE"/>
                </a:solidFill>
                <a:latin typeface="Calibri"/>
              </a:rPr>
              <a:t>Fully responsive storefront built with HTML5, CSS3, Bootstrap 5.3, and vanilla JavaScript. Deployed at notrox.hu with 8 distinct pages covering browsing, ordering, and account management.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993392"/>
            <a:ext cx="5486400" cy="13716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17920" y="2130552"/>
            <a:ext cx="54864" cy="109728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19088" y="208483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🔑  Authentication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468880"/>
            <a:ext cx="51206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9BBBE"/>
                </a:solidFill>
                <a:latin typeface="Calibri"/>
              </a:rPr>
              <a:t>JWT-based login and registration flow. Tokens are stored in sessionStorage. Protected routes are guarded client-side by auth-check.js — unauthorised users are redirected immediately.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502152"/>
            <a:ext cx="5486400" cy="13716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3639312"/>
            <a:ext cx="54864" cy="109728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" y="359359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🛍️  Shopping 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977639"/>
            <a:ext cx="51206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9BBBE"/>
                </a:solidFill>
                <a:latin typeface="Calibri"/>
              </a:rPr>
              <a:t>Product listing with real-time search, brand and price filters. Cart persists in localStorage per user (cart_{userId}). Checkout validates card details including expiry month range (01-12).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502152"/>
            <a:ext cx="5486400" cy="13716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17920" y="3639312"/>
            <a:ext cx="54864" cy="109728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19088" y="359359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📄  Orders &amp; Profile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3977639"/>
            <a:ext cx="51206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9BBBE"/>
                </a:solidFill>
                <a:latin typeface="Calibri"/>
              </a:rPr>
              <a:t>Customers can track order status across 6 phases, download a PDF invoice, manage shipping and billing addresses, change passwords, and upload a profile picture via Multer.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010912"/>
            <a:ext cx="5486400" cy="13716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57200" y="5148072"/>
            <a:ext cx="54864" cy="109728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8368" y="510235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🛡️  Web Admin Panel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486400"/>
            <a:ext cx="51206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9BBBE"/>
                </a:solidFill>
                <a:latin typeface="Calibri"/>
              </a:rPr>
              <a:t>Browser-based admin interface at notrox.hu/admin — protected by isAdmin flag and JWT. Supports inline product editing, user search and deletion (requires typing DELETE), and order phase updates.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5010912"/>
            <a:ext cx="5486400" cy="13716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17920" y="5148072"/>
            <a:ext cx="54864" cy="109728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19088" y="510235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📱  Responsive Design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5486400"/>
            <a:ext cx="51206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9BBBE"/>
                </a:solidFill>
                <a:latin typeface="Calibri"/>
              </a:rPr>
              <a:t>Bootstrap 5.3 grid ensures the layout adapts to mobile, tablet and desktop viewports. Admin panel switches to a card-based layout on narrow screens for usability.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WPF Asztali Admin Alkalmazás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865F2"/>
                </a:solidFill>
                <a:latin typeface="Calibri"/>
              </a:rPr>
              <a:t>Windows • C# • .NET 8 • MVVM • CommunityToolkit.Mvvm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5486400" cy="521208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0" cy="45720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80744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⚙️  Funkciók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👤 Felhasználók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5856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Listázás, keresés, törlés — kártyás nézet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791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📋 Rendelések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175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Összes rendelés listázva — fázis módosítható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3814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📦 Termékek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7647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Szerkesztés, törlés, új termék hozzáadása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9709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🔍 Globális keresés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53542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Valós idejű szűrés minden nézetben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5604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📊 CSV Export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2943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Jelenlegi nézet exportálása CSV fájlba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715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📍 Cím kezelés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05332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Szállítási és számlázási cím szerkesztés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1325880"/>
            <a:ext cx="5394960" cy="521208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309360" y="1325880"/>
            <a:ext cx="5394960" cy="457200"/>
          </a:xfrm>
          <a:prstGeom prst="rect">
            <a:avLst/>
          </a:prstGeom>
          <a:solidFill>
            <a:srgbClr val="57F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138074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🏗️  Architektúra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9202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MVVM Minta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25856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Model / View / ViewModel rétegek szétválasztva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6791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ServerConnection.cs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0175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HTTPS kötelező — ArgumentException HTTP-re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43814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Session.cs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77647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Bejelentkezett admin neve statikusan tárolva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19709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ISearchable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53542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Interfész minden nézetben — keresés egységes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95604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ObservableCollection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52943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UI automatikusan frissül adatváltozásra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5715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AsyncRelayCommand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605332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Aszinkron bejelentkezési folyamat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Avalonia Mobilalkalmazás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865F2"/>
                </a:solidFill>
                <a:latin typeface="Calibri"/>
              </a:rPr>
              <a:t>Android &amp; Desktop • C# • Avalonia UI • MVVM • Platformfüggetlen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11247120" cy="128016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53312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5865F2"/>
                </a:solidFill>
                <a:latin typeface="Calibri"/>
              </a:rPr>
              <a:t>📱  </a:t>
            </a:r>
            <a:r>
              <a:rPr lang="hu-HU" sz="1300" b="1" dirty="0">
                <a:solidFill>
                  <a:srgbClr val="5865F2"/>
                </a:solidFill>
                <a:latin typeface="Calibri"/>
              </a:rPr>
              <a:t>Android </a:t>
            </a:r>
            <a:r>
              <a:rPr sz="1300" b="1" dirty="0">
                <a:solidFill>
                  <a:srgbClr val="5865F2"/>
                </a:solidFill>
                <a:latin typeface="Calibri"/>
              </a:rPr>
              <a:t>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86200" y="1389888"/>
            <a:ext cx="3017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hu-HU" sz="1100" b="1" dirty="0">
                <a:solidFill>
                  <a:srgbClr val="5865F2"/>
                </a:solidFill>
                <a:latin typeface="Calibri"/>
              </a:rPr>
              <a:t>Funkciók</a:t>
            </a:r>
            <a:endParaRPr sz="1100" b="1" dirty="0">
              <a:solidFill>
                <a:srgbClr val="5865F2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85800" y="164592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Navigáció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164592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Vissza gomb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847088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Klaviatúra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1847088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Auto felcsúszik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048256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Elrendezés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2048256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Skálázható layout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249424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Hálózat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2249424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Engedély szükséges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2971800"/>
            <a:ext cx="5486400" cy="16002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57200" y="3136392"/>
            <a:ext cx="54864" cy="128016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8368" y="308152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👥 Felhasználók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474720"/>
            <a:ext cx="5120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Listázás, keresés, szerkesztés, törlés — Edit/Delete gombokkal kártyákon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971800"/>
            <a:ext cx="5486400" cy="16002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217920" y="3136392"/>
            <a:ext cx="54864" cy="128016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19088" y="308152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📦 Termékek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3474720"/>
            <a:ext cx="5120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Teljes árukészlet valós időben — Edit: adatok szerkeszthetővé válnak, Delete: töröl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754880"/>
            <a:ext cx="5486400" cy="16002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57200" y="4919472"/>
            <a:ext cx="54864" cy="128016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8368" y="486460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📋 Rendelések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57800"/>
            <a:ext cx="5120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Növekvő sorrendben, azonosítóval — fázis dropdown-ból állítható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754880"/>
            <a:ext cx="5486400" cy="16002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17920" y="4919472"/>
            <a:ext cx="54864" cy="128016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19088" y="486460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➕ Új termék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5257800"/>
            <a:ext cx="5120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Strukturált űrlap — név, leírás, ár, készlet, gyártó dropdown, kép URL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6400800"/>
            <a:ext cx="11247120" cy="320040"/>
          </a:xfrm>
          <a:prstGeom prst="roundRect">
            <a:avLst>
              <a:gd name="adj" fmla="val 5000"/>
            </a:avLst>
          </a:prstGeom>
          <a:solidFill>
            <a:srgbClr val="2C2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0080" y="64282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ℹ️  Az Avalonia alkalmazás funkcionálisan megegyezik a WPF verzióval — platformfüggetlen megvalósítással, azonos REST API használatával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WPF vs Avalonia — Különbségek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865F2"/>
                </a:solidFill>
                <a:latin typeface="Calibri"/>
              </a:rPr>
              <a:t>Azonos logika — eltérő platform és szintaxis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11247120" cy="457200"/>
          </a:xfrm>
          <a:prstGeom prst="roundRect">
            <a:avLst>
              <a:gd name="adj" fmla="val 5000"/>
            </a:avLst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Jellemző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371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WPF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371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Avalonia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19"/>
            <a:ext cx="11247120" cy="594360"/>
          </a:xfrm>
          <a:prstGeom prst="rect">
            <a:avLst/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993391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UI Framework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1993391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Windows Presentation Foundation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993391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7F287"/>
                </a:solidFill>
                <a:latin typeface="Calibri"/>
              </a:rPr>
              <a:t>Avalonia UI (cross-platform)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42032"/>
            <a:ext cx="11247120" cy="594360"/>
          </a:xfrm>
          <a:prstGeom prst="rect">
            <a:avLst/>
          </a:prstGeom>
          <a:solidFill>
            <a:srgbClr val="2C2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660903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Nézet kiterjesztés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2660903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.xaml fájlok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660903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7F287"/>
                </a:solidFill>
                <a:latin typeface="Calibri"/>
              </a:rPr>
              <a:t>.axaml fájlok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09544"/>
            <a:ext cx="11247120" cy="594360"/>
          </a:xfrm>
          <a:prstGeom prst="rect">
            <a:avLst/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3328415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Ablakkezelés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3328415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Window.Show() / Close()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3328415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7F287"/>
                </a:solidFill>
                <a:latin typeface="Calibri"/>
              </a:rPr>
              <a:t>CurrentView csere MainViewModel-ben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877056"/>
            <a:ext cx="11247120" cy="594360"/>
          </a:xfrm>
          <a:prstGeom prst="rect">
            <a:avLst/>
          </a:prstGeom>
          <a:solidFill>
            <a:srgbClr val="2C2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39959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Platform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99592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Csak Windows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99592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7F287"/>
                </a:solidFill>
                <a:latin typeface="Calibri"/>
              </a:rPr>
              <a:t>Android &amp; Desktop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544568"/>
            <a:ext cx="11247120" cy="594360"/>
          </a:xfrm>
          <a:prstGeom prst="rect">
            <a:avLst/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4663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PasswordBox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0" y="466344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WPF natív + AsyncRelayCommand&lt;object&gt;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4663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7F287"/>
                </a:solidFill>
                <a:latin typeface="Calibri"/>
              </a:rPr>
              <a:t>Avalonia TextBox (PasswordChar mód)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212079"/>
            <a:ext cx="11247120" cy="594360"/>
          </a:xfrm>
          <a:prstGeom prst="rect">
            <a:avLst/>
          </a:prstGeom>
          <a:solidFill>
            <a:srgbClr val="2C2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" y="5330951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Assert szintaxis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23360" y="5330951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Assert.ThrowsException&lt;T&gt;()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5330951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7F287"/>
                </a:solidFill>
                <a:latin typeface="Calibri"/>
              </a:rPr>
              <a:t>Assert.Throws&lt;T&gt;()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879592"/>
            <a:ext cx="11247120" cy="594360"/>
          </a:xfrm>
          <a:prstGeom prst="rect">
            <a:avLst/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0080" y="599846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Navigáció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23360" y="5998464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Bal oldali NavigationBar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5998464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7F287"/>
                </a:solidFill>
                <a:latin typeface="Calibri"/>
              </a:rPr>
              <a:t>MainViewModel CurrentView property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926080" cy="384048"/>
          </a:xfrm>
          <a:prstGeom prst="roundRect">
            <a:avLst>
              <a:gd name="adj" fmla="val 5000"/>
            </a:avLst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SECTION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WPF, Avalonia &amp; Android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865F2"/>
                </a:solidFill>
                <a:latin typeface="Calibri"/>
              </a:rPr>
              <a:t>Desktop and mobile admin clients — same logic, different platforms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10512"/>
            <a:ext cx="11247120" cy="4572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1993392"/>
            <a:ext cx="5486400" cy="13716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2130552"/>
            <a:ext cx="54864" cy="1097280"/>
          </a:xfrm>
          <a:prstGeom prst="rect">
            <a:avLst/>
          </a:prstGeom>
          <a:solidFill>
            <a:srgbClr val="FEE7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208483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🖥️  WPF Admin 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468880"/>
            <a:ext cx="51206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9BBBE"/>
                </a:solidFill>
                <a:latin typeface="Calibri"/>
              </a:rPr>
              <a:t>Windows-only desktop client built in C# / .NET 8 using the MVVM pattern with CommunityToolkit.Mvvm. Communicates with the REST API over HTTPS — HTTP connections raise an ArgumentException.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993392"/>
            <a:ext cx="5486400" cy="13716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17920" y="2130552"/>
            <a:ext cx="54864" cy="1097280"/>
          </a:xfrm>
          <a:prstGeom prst="rect">
            <a:avLst/>
          </a:prstGeom>
          <a:solidFill>
            <a:srgbClr val="FEE7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19088" y="208483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📱  Avalonia Admin App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468880"/>
            <a:ext cx="51206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9BBBE"/>
                </a:solidFill>
                <a:latin typeface="Calibri"/>
              </a:rPr>
              <a:t>Cross-platform client running on Android and desktop, written in C# with Avalonia UI. Shares the same business logic as WPF, adapted with .axaml views and MainViewModel-based navigation.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502152"/>
            <a:ext cx="5486400" cy="13716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3639312"/>
            <a:ext cx="54864" cy="1097280"/>
          </a:xfrm>
          <a:prstGeom prst="rect">
            <a:avLst/>
          </a:prstGeom>
          <a:solidFill>
            <a:srgbClr val="FEE7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" y="359359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🔀  MVVM 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977639"/>
            <a:ext cx="51206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9BBBE"/>
                </a:solidFill>
                <a:latin typeface="Calibri"/>
              </a:rPr>
              <a:t>Both apps use Model / View / ViewModel separation. ObservableCollection keeps the UI in sync automatically; ISearchable interface unifies real-time search across all views.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502152"/>
            <a:ext cx="5486400" cy="13716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17920" y="3639312"/>
            <a:ext cx="54864" cy="1097280"/>
          </a:xfrm>
          <a:prstGeom prst="rect">
            <a:avLst/>
          </a:prstGeom>
          <a:solidFill>
            <a:srgbClr val="FEE7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19088" y="359359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⚙️  Shared Features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3977639"/>
            <a:ext cx="51206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9BBBE"/>
                </a:solidFill>
                <a:latin typeface="Calibri"/>
              </a:rPr>
              <a:t>Users, Products, Orders — list, search, edit, delete. New product form, CSV export of current view, and address management. Role-based access enforced by isAdmin check on login.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010912"/>
            <a:ext cx="5486400" cy="13716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57200" y="5148072"/>
            <a:ext cx="54864" cy="1097280"/>
          </a:xfrm>
          <a:prstGeom prst="rect">
            <a:avLst/>
          </a:prstGeom>
          <a:solidFill>
            <a:srgbClr val="FEE7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8368" y="510235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🔄  Key Differences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486400"/>
            <a:ext cx="51206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9BBBE"/>
                </a:solidFill>
                <a:latin typeface="Calibri"/>
              </a:rPr>
              <a:t>WPF uses Window.Show() navigation and native PasswordBox. Avalonia replaces these with CurrentView property switching and a TextBox in PasswordChar mode. Test syntax also differs (Assert.Throws vs Assert.ThrowsException).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5010912"/>
            <a:ext cx="5486400" cy="137160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17920" y="5148072"/>
            <a:ext cx="54864" cy="1097280"/>
          </a:xfrm>
          <a:prstGeom prst="rect">
            <a:avLst/>
          </a:prstGeom>
          <a:solidFill>
            <a:srgbClr val="FEE7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19088" y="510235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🧪  Unit Tests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5486400"/>
            <a:ext cx="51206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9BBBE"/>
                </a:solidFill>
                <a:latin typeface="Calibri"/>
              </a:rPr>
              <a:t>24 MSTest unit tests each for WPF and Avalonia — covering OrdersClass.TotalPrice calculation with null-safe handling and ServerConnection HTTPS enforcement, all passing at 100%.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Összefoglalás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865F2"/>
                </a:solidFill>
                <a:latin typeface="Calibri"/>
              </a:rPr>
              <a:t>NOTROX — komplex gaming platform, három kliensalkalmazással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2606040" cy="155448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444752"/>
            <a:ext cx="2606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5865F2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9BBBE"/>
                </a:solidFill>
                <a:latin typeface="Calibri"/>
              </a:rPr>
              <a:t>Kliens
platform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371600"/>
            <a:ext cx="2606040" cy="155448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444752"/>
            <a:ext cx="2606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57F287"/>
                </a:solidFill>
                <a:latin typeface="Calibri"/>
              </a:rPr>
              <a:t>110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286000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9BBBE"/>
                </a:solidFill>
                <a:latin typeface="Calibri"/>
              </a:rPr>
              <a:t>Teszteset
100% PASS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371600"/>
            <a:ext cx="2606040" cy="155448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0" y="1444752"/>
            <a:ext cx="2606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ED4345"/>
                </a:solidFill>
                <a:latin typeface="Calibri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286000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9BBBE"/>
                </a:solidFill>
                <a:latin typeface="Calibri"/>
              </a:rPr>
              <a:t>Javított
hiba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1371600"/>
            <a:ext cx="2606040" cy="155448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961120" y="1444752"/>
            <a:ext cx="2606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EE75C"/>
                </a:solidFill>
                <a:latin typeface="Calibri"/>
              </a:rPr>
              <a:t>8+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2286000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9BBBE"/>
                </a:solidFill>
                <a:latin typeface="Calibri"/>
              </a:rPr>
              <a:t>REST API
végpont csoport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108960"/>
            <a:ext cx="11247120" cy="118872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31729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🛠️  Technológiai Stack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66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65F2"/>
                </a:solidFill>
                <a:latin typeface="Calibri"/>
              </a:rPr>
              <a:t>Node.js + Express.js   |   MySQL + Sequelize ORM   |   JWT hitelesítés   |   bcrypt jelszóhashelés   |   Bootstrap 5.3   |   C# + WPF   |   Avalonia UI   |   MSTest + Jest + Supertest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480560"/>
            <a:ext cx="5669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✅  REST API tervezés és implementáció — Node.js + Express.js + Sequelize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4480560"/>
            <a:ext cx="5669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✅  JWT alapú hitelesítési rendszer — bcrypt jelszóvédelem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148072"/>
            <a:ext cx="5669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✅  WPF MVVM alkalmazás — CommunityToolkit.Mvvm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5148072"/>
            <a:ext cx="5669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✅  Avalonia UI mobilalkalmazás — Android platformon is futtatható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815584"/>
            <a:ext cx="5669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✅  Reszponzív Bootstrap 5.3 web frontend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5815584"/>
            <a:ext cx="5669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BBBE"/>
                </a:solidFill>
                <a:latin typeface="Calibri"/>
              </a:rPr>
              <a:t>✅  Automata tesztelési infrastruktúra — MSTest + Jest + Supertest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400800"/>
            <a:ext cx="11247120" cy="320040"/>
          </a:xfrm>
          <a:prstGeom prst="roundRect">
            <a:avLst>
              <a:gd name="adj" fmla="val 5000"/>
            </a:avLst>
          </a:prstGeom>
          <a:solidFill>
            <a:srgbClr val="2C2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" y="64282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9BBBE"/>
                </a:solidFill>
                <a:latin typeface="Calibri"/>
              </a:rPr>
              <a:t>🚀  Tervek: E-mail értesítések  •  Valós fizetési integráció (Stripe/Barion)  •  React frontend  •  Playwright E2E tesztek  •  Push értesítések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828800" y="-1828800"/>
            <a:ext cx="7315200" cy="7315200"/>
          </a:xfrm>
          <a:prstGeom prst="ellipse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229600" y="2743200"/>
            <a:ext cx="6400800" cy="6400800"/>
          </a:xfrm>
          <a:prstGeom prst="ellipse">
            <a:avLst/>
          </a:prstGeom>
          <a:solidFill>
            <a:srgbClr val="2C2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Calibri"/>
              </a:rPr>
              <a:t>NOTROX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5865F2"/>
                </a:solidFill>
                <a:latin typeface="Calibri"/>
              </a:rPr>
              <a:t>Gaming Webshop Platform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2880360"/>
            <a:ext cx="4873752" cy="45720"/>
          </a:xfrm>
          <a:prstGeom prst="rect">
            <a:avLst/>
          </a:prstGeom>
          <a:solidFill>
            <a:srgbClr val="586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30632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9BBBE"/>
                </a:solidFill>
                <a:latin typeface="Calibri"/>
              </a:rPr>
              <a:t>Készítette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3520440"/>
            <a:ext cx="7616952" cy="1645920"/>
          </a:xfrm>
          <a:prstGeom prst="roundRect">
            <a:avLst>
              <a:gd name="adj" fmla="val 5000"/>
            </a:avLst>
          </a:prstGeom>
          <a:solidFill>
            <a:srgbClr val="40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286000" y="3639312"/>
            <a:ext cx="76169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★  Gróf Richárd László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4114800"/>
            <a:ext cx="76169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★  Molnár Márk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4590288"/>
            <a:ext cx="76169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★  Péjó Kristóf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492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9BBBE"/>
                </a:solidFill>
                <a:latin typeface="Calibri"/>
              </a:rPr>
              <a:t>Budapesti Műszaki SZC Egressy Gábor Két Tanítási Nyelvű Technikum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806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865F2"/>
                </a:solidFill>
                <a:latin typeface="Calibri"/>
              </a:rPr>
              <a:t>Szoftverfejlesztő vizsgaremek  •  2025–2026  •  notrox.hu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236208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Köszönjük a figyelmet!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2337</Words>
  <Application>Microsoft Office PowerPoint</Application>
  <PresentationFormat>Egyéni</PresentationFormat>
  <Paragraphs>401</Paragraphs>
  <Slides>20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O365 felhasználó</cp:lastModifiedBy>
  <cp:revision>2</cp:revision>
  <dcterms:created xsi:type="dcterms:W3CDTF">2013-01-27T09:14:16Z</dcterms:created>
  <dcterms:modified xsi:type="dcterms:W3CDTF">2026-05-15T15:54:45Z</dcterms:modified>
  <cp:category/>
</cp:coreProperties>
</file>
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83" r:id="rId10"/>
    <p:sldId id="264" r:id="rId11"/>
    <p:sldId id="265" r:id="rId12"/>
    <p:sldId id="277" r:id="rId13"/>
    <p:sldId id="266" r:id="rId14"/>
    <p:sldId id="278" r:id="rId15"/>
    <p:sldId id="267" r:id="rId16"/>
    <p:sldId id="279" r:id="rId17"/>
    <p:sldId id="268" r:id="rId18"/>
    <p:sldId id="280" r:id="rId19"/>
    <p:sldId id="281" r:id="rId20"/>
    <p:sldId id="282" r:id="rId21"/>
    <p:sldId id="270" r:id="rId22"/>
    <p:sldId id="271" r:id="rId23"/>
    <p:sldId id="272" r:id="rId24"/>
    <p:sldId id="274" r:id="rId25"/>
    <p:sldId id="275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65F2"/>
    <a:srgbClr val="23272A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4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0" y="-457200"/>
            <a:ext cx="2743200" cy="2743200"/>
          </a:xfrm>
          <a:prstGeom prst="ellipse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FFFFFF"/>
                </a:solidFill>
                <a:latin typeface="Calibri"/>
              </a:rPr>
              <a:t>NOTROX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5865F2"/>
                </a:solidFill>
                <a:latin typeface="Calibri"/>
              </a:rPr>
              <a:t>Gaming </a:t>
            </a:r>
            <a:r>
              <a:rPr sz="3200" b="0" dirty="0" err="1">
                <a:solidFill>
                  <a:srgbClr val="5865F2"/>
                </a:solidFill>
                <a:latin typeface="Calibri"/>
              </a:rPr>
              <a:t>Webshop</a:t>
            </a:r>
            <a:r>
              <a:rPr sz="3200" b="0" dirty="0">
                <a:solidFill>
                  <a:srgbClr val="5865F2"/>
                </a:solidFill>
                <a:latin typeface="Calibri"/>
              </a:rPr>
              <a:t>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3657600" cy="45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B9BBBE"/>
                </a:solidFill>
                <a:latin typeface="Calibri"/>
              </a:rPr>
              <a:t>Szoftverfejlesztő</a:t>
            </a:r>
            <a:r>
              <a:rPr sz="20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B9BBBE"/>
                </a:solidFill>
                <a:latin typeface="Calibri"/>
              </a:rPr>
              <a:t>vizsgaremek</a:t>
            </a:r>
            <a:r>
              <a:rPr sz="2000" b="0" dirty="0">
                <a:solidFill>
                  <a:srgbClr val="B9BBBE"/>
                </a:solidFill>
                <a:latin typeface="Calibri"/>
              </a:rPr>
              <a:t> — Projekt </a:t>
            </a:r>
            <a:r>
              <a:rPr sz="2000" b="0" dirty="0" err="1">
                <a:solidFill>
                  <a:srgbClr val="B9BBBE"/>
                </a:solidFill>
                <a:latin typeface="Calibri"/>
              </a:rPr>
              <a:t>Bemutató</a:t>
            </a:r>
            <a:endParaRPr sz="20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80644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Gróf Richárd László  |  Molnár Márk </a:t>
            </a:r>
            <a:r>
              <a:rPr lang="hu-HU" b="0" dirty="0">
                <a:solidFill>
                  <a:srgbClr val="B9BBBE"/>
                </a:solidFill>
                <a:latin typeface="Calibri"/>
              </a:rPr>
              <a:t>Krisztián</a:t>
            </a:r>
            <a:r>
              <a:rPr b="0" dirty="0">
                <a:solidFill>
                  <a:srgbClr val="B9BBBE"/>
                </a:solidFill>
                <a:latin typeface="Calibri"/>
              </a:rPr>
              <a:t> | 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Péjó</a:t>
            </a:r>
            <a:r>
              <a:rPr b="0" dirty="0">
                <a:solidFill>
                  <a:srgbClr val="B9BBBE"/>
                </a:solidFill>
                <a:latin typeface="Calibri"/>
              </a:rPr>
              <a:t> Kristóf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Budapesti Műszaki SZC Egressy Gábor Két Tanítási Nyelvű Technikum  •  2025–2026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Tartalom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3210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99FF99"/>
                </a:solidFill>
                <a:latin typeface="Calibri"/>
              </a:rPr>
              <a:t>A </a:t>
            </a:r>
            <a:r>
              <a:rPr sz="2400" b="0" dirty="0" err="1">
                <a:solidFill>
                  <a:srgbClr val="99FF99"/>
                </a:solidFill>
                <a:latin typeface="Calibri"/>
              </a:rPr>
              <a:t>bemutató</a:t>
            </a:r>
            <a:r>
              <a:rPr sz="2400" b="0" dirty="0">
                <a:solidFill>
                  <a:srgbClr val="99FF99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99FF99"/>
                </a:solidFill>
                <a:latin typeface="Calibri"/>
              </a:rPr>
              <a:t>felépítése</a:t>
            </a:r>
            <a:endParaRPr sz="2400"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27048"/>
            <a:ext cx="512064" cy="512064"/>
          </a:xfrm>
          <a:prstGeom prst="roundRect">
            <a:avLst>
              <a:gd name="adj" fmla="val 5000"/>
            </a:avLst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Backend &amp; Tesztelés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5085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Node.js + Express REST API, JWT, MySQL,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Sequelize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automata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tesztek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512064" cy="512064"/>
          </a:xfrm>
          <a:prstGeom prst="roundRect">
            <a:avLst>
              <a:gd name="adj" fmla="val 5000"/>
            </a:avLst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2316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Weboldal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969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Vásárlói felület — böngészés, kosár, rendelés, profil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5800" y="3447288"/>
            <a:ext cx="512064" cy="512064"/>
          </a:xfrm>
          <a:prstGeom prst="roundRect">
            <a:avLst>
              <a:gd name="adj" fmla="val 5000"/>
            </a:avLst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44728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8328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Webes Admin Felület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7109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Termék, felhasználó és rendeléskezelés böngészőből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4407408"/>
            <a:ext cx="512064" cy="512064"/>
          </a:xfrm>
          <a:prstGeom prst="roundRect">
            <a:avLst>
              <a:gd name="adj" fmla="val 5000"/>
            </a:avLst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4340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WPF Admin Alkalmazás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3121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Windows asztali adminisztrációs kliens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5367528"/>
            <a:ext cx="512064" cy="512064"/>
          </a:xfrm>
          <a:prstGeom prst="roundRect">
            <a:avLst>
              <a:gd name="adj" fmla="val 5000"/>
            </a:avLst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36752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0352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Avalonia Mobilalkalmazás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591330"/>
            <a:ext cx="9875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Android &amp; Desktop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platformfüggetlen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admin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kliens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Rendszerarchitektúra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02749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 err="1">
                <a:solidFill>
                  <a:srgbClr val="99FF99"/>
                </a:solidFill>
                <a:latin typeface="Calibri"/>
              </a:rPr>
              <a:t>Három</a:t>
            </a:r>
            <a:r>
              <a:rPr sz="2400" b="0" dirty="0">
                <a:solidFill>
                  <a:srgbClr val="99FF99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99FF99"/>
                </a:solidFill>
                <a:latin typeface="Calibri"/>
              </a:rPr>
              <a:t>kliens</a:t>
            </a:r>
            <a:r>
              <a:rPr sz="2400"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sz="2400" b="0" dirty="0" err="1">
                <a:solidFill>
                  <a:srgbClr val="99FF99"/>
                </a:solidFill>
                <a:latin typeface="Calibri"/>
              </a:rPr>
              <a:t>egy</a:t>
            </a:r>
            <a:r>
              <a:rPr sz="2400" b="0" dirty="0">
                <a:solidFill>
                  <a:srgbClr val="99FF99"/>
                </a:solidFill>
                <a:latin typeface="Calibri"/>
              </a:rPr>
              <a:t> </a:t>
            </a:r>
            <a:r>
              <a:rPr sz="2400" b="0" dirty="0" err="1">
                <a:solidFill>
                  <a:srgbClr val="99FF99"/>
                </a:solidFill>
                <a:latin typeface="Calibri"/>
              </a:rPr>
              <a:t>közös</a:t>
            </a:r>
            <a:r>
              <a:rPr sz="2400" b="0" dirty="0">
                <a:solidFill>
                  <a:srgbClr val="99FF99"/>
                </a:solidFill>
                <a:latin typeface="Calibri"/>
              </a:rPr>
              <a:t> REST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1188720"/>
          </a:xfrm>
          <a:prstGeom prst="roundRect">
            <a:avLst>
              <a:gd name="adj" fmla="val 5000"/>
            </a:avLst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63040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Weboldal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168" y="1969746"/>
            <a:ext cx="3173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HTML5 / CSS3 / Bootstrap 5.3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383280" cy="1188720"/>
          </a:xfrm>
          <a:prstGeom prst="roundRect">
            <a:avLst>
              <a:gd name="adj" fmla="val 5000"/>
            </a:avLst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9" y="1463040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WPF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618" y="1969746"/>
            <a:ext cx="3173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C# / .NET 8 / Windows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371600"/>
            <a:ext cx="3383280" cy="1188720"/>
          </a:xfrm>
          <a:prstGeom prst="roundRect">
            <a:avLst>
              <a:gd name="adj" fmla="val 5000"/>
            </a:avLst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19" y="1463040"/>
            <a:ext cx="2468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Avalonia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658" y="1969746"/>
            <a:ext cx="3173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C# / Android &amp;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865F2"/>
                </a:solidFill>
                <a:latin typeface="Calibri"/>
              </a:rPr>
              <a:t>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865F2"/>
                </a:solidFill>
                <a:latin typeface="Calibri"/>
              </a:rPr>
              <a:t>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2633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865F2"/>
                </a:solidFill>
                <a:latin typeface="Calibri"/>
              </a:rPr>
              <a:t>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63240"/>
            <a:ext cx="11247120" cy="1005840"/>
          </a:xfrm>
          <a:prstGeom prst="roundRect">
            <a:avLst>
              <a:gd name="adj" fmla="val 5000"/>
            </a:avLst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127248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Calibri"/>
              </a:rPr>
              <a:t>REST API  —  Node.js + Express.js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38728"/>
            <a:ext cx="1124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dirty="0" err="1">
                <a:solidFill>
                  <a:srgbClr val="FFFFFF"/>
                </a:solidFill>
                <a:latin typeface="Calibri"/>
              </a:rPr>
              <a:t>Hitelesítés</a:t>
            </a:r>
            <a:r>
              <a:rPr b="0" dirty="0">
                <a:solidFill>
                  <a:srgbClr val="FFFFFF"/>
                </a:solidFill>
                <a:latin typeface="Calibri"/>
              </a:rPr>
              <a:t>: JWT Bearer Token  •  JSON </a:t>
            </a:r>
            <a:r>
              <a:rPr b="0" dirty="0" err="1">
                <a:solidFill>
                  <a:srgbClr val="FFFFFF"/>
                </a:solidFill>
                <a:latin typeface="Calibri"/>
              </a:rPr>
              <a:t>kommunikáció</a:t>
            </a:r>
            <a:r>
              <a:rPr b="0" dirty="0">
                <a:solidFill>
                  <a:srgbClr val="FFFFFF"/>
                </a:solidFill>
                <a:latin typeface="Calibri"/>
              </a:rPr>
              <a:t>  •  HTTPS </a:t>
            </a:r>
            <a:r>
              <a:rPr b="0" dirty="0" err="1">
                <a:solidFill>
                  <a:srgbClr val="FFFFFF"/>
                </a:solidFill>
                <a:latin typeface="Calibri"/>
              </a:rPr>
              <a:t>kötelező</a:t>
            </a:r>
            <a:endParaRPr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52160" y="4133087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865F2"/>
                </a:solidFill>
                <a:latin typeface="Calibri"/>
              </a:rPr>
              <a:t>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457200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0" y="4645152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🗄️ MySQL Adatbázis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502920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B9BBBE"/>
                </a:solidFill>
                <a:latin typeface="Calibri"/>
              </a:rPr>
              <a:t>Sequelize</a:t>
            </a:r>
            <a:r>
              <a:rPr b="0" dirty="0">
                <a:solidFill>
                  <a:srgbClr val="B9BBBE"/>
                </a:solidFill>
                <a:latin typeface="Calibri"/>
              </a:rPr>
              <a:t> ORM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457200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3480" y="4645152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📁 Multer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502920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B9BBBE"/>
                </a:solidFill>
                <a:latin typeface="Calibri"/>
              </a:rPr>
              <a:t>Fájlfeltöltés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863840" y="457200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01000" y="4645152"/>
            <a:ext cx="2468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🔐 bcrypt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029200"/>
            <a:ext cx="2468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B9BBBE"/>
                </a:solidFill>
                <a:latin typeface="Calibri"/>
              </a:rPr>
              <a:t>Jelszóhash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Backend — 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Node.js + Express.js +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Sequelize</a:t>
            </a:r>
            <a:r>
              <a:rPr b="0" dirty="0">
                <a:solidFill>
                  <a:srgbClr val="99FF99"/>
                </a:solidFill>
                <a:latin typeface="Calibri"/>
              </a:rPr>
              <a:t> + MySQL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36192"/>
            <a:ext cx="54864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🔐 Hitelesítés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/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UserLogin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/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UserRegister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/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EditUser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090672"/>
            <a:ext cx="54864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03580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📦 Termékek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2900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/getproduct, /postproduct, /updateproduct, /deleteproduct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645152"/>
            <a:ext cx="54864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59028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🛒 Rendelések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/createOrder, /getMyOrders, /getAllOrders, /updateOrderPhase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536192"/>
            <a:ext cx="54864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14813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📍 Cím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74519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/AddressRegister, /AddressGets, /EditAddress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090672"/>
            <a:ext cx="54864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03580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🏢 Cégek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29000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/getcompany — gyártók listázása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80560"/>
            <a:ext cx="5486400" cy="13258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645152"/>
            <a:ext cx="54864" cy="100584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19088" y="459028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🖼️ Profil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983480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/uploadPFP — Multer fájlfeltöltés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989320"/>
            <a:ext cx="11247120" cy="685800"/>
          </a:xfrm>
          <a:prstGeom prst="roundRect">
            <a:avLst>
              <a:gd name="adj" fmla="val 5000"/>
            </a:avLst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615391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57F287"/>
                </a:solidFill>
                <a:latin typeface="Calibri"/>
              </a:rPr>
              <a:t>🔒  Minden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védett</a:t>
            </a:r>
            <a:r>
              <a:rPr sz="1600" b="0" dirty="0">
                <a:solidFill>
                  <a:srgbClr val="57F28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végpont</a:t>
            </a:r>
            <a:r>
              <a:rPr sz="1600" b="0" dirty="0">
                <a:solidFill>
                  <a:srgbClr val="57F287"/>
                </a:solidFill>
                <a:latin typeface="Calibri"/>
              </a:rPr>
              <a:t> Bearer JWT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tokent</a:t>
            </a:r>
            <a:r>
              <a:rPr sz="1600" b="0" dirty="0">
                <a:solidFill>
                  <a:srgbClr val="57F28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igényel</a:t>
            </a:r>
            <a:r>
              <a:rPr sz="1600" b="0" dirty="0">
                <a:solidFill>
                  <a:srgbClr val="57F287"/>
                </a:solidFill>
                <a:latin typeface="Calibri"/>
              </a:rPr>
              <a:t>  •  Admin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végpontokhoz</a:t>
            </a:r>
            <a:r>
              <a:rPr sz="1600" b="0" dirty="0">
                <a:solidFill>
                  <a:srgbClr val="57F28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isAdmin</a:t>
            </a:r>
            <a:r>
              <a:rPr sz="1600" b="0" dirty="0">
                <a:solidFill>
                  <a:srgbClr val="57F287"/>
                </a:solidFill>
                <a:latin typeface="Calibri"/>
              </a:rPr>
              <a:t>: true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szükséges</a:t>
            </a:r>
            <a:r>
              <a:rPr sz="1600" b="0" dirty="0">
                <a:solidFill>
                  <a:srgbClr val="57F287"/>
                </a:solidFill>
                <a:latin typeface="Calibri"/>
              </a:rPr>
              <a:t>  •  HTTPS </a:t>
            </a:r>
            <a:r>
              <a:rPr sz="1600" b="0" dirty="0" err="1">
                <a:solidFill>
                  <a:srgbClr val="57F287"/>
                </a:solidFill>
                <a:latin typeface="Calibri"/>
              </a:rPr>
              <a:t>kötelező</a:t>
            </a:r>
            <a:endParaRPr sz="1600" b="0" dirty="0">
              <a:solidFill>
                <a:srgbClr val="57F287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Adatbázis Struktúra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99FF99"/>
                </a:solidFill>
                <a:latin typeface="Calibri"/>
              </a:rPr>
              <a:t>MySQL </a:t>
            </a:r>
            <a:r>
              <a:rPr sz="2000" b="0" dirty="0" err="1">
                <a:solidFill>
                  <a:srgbClr val="99FF99"/>
                </a:solidFill>
                <a:latin typeface="Calibri"/>
              </a:rPr>
              <a:t>relációs</a:t>
            </a:r>
            <a:r>
              <a:rPr sz="2000" b="0" dirty="0">
                <a:solidFill>
                  <a:srgbClr val="99FF9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99FF99"/>
                </a:solidFill>
                <a:latin typeface="Calibri"/>
              </a:rPr>
              <a:t>adatbázis</a:t>
            </a:r>
            <a:r>
              <a:rPr sz="2000"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sz="2000" b="0" dirty="0" err="1">
                <a:solidFill>
                  <a:srgbClr val="99FF99"/>
                </a:solidFill>
                <a:latin typeface="Calibri"/>
              </a:rPr>
              <a:t>Sequelize</a:t>
            </a:r>
            <a:r>
              <a:rPr sz="2000" b="0" dirty="0">
                <a:solidFill>
                  <a:srgbClr val="99FF99"/>
                </a:solidFill>
                <a:latin typeface="Calibri"/>
              </a:rPr>
              <a:t> 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id, username,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password (bcrypt)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▸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pfp</a:t>
            </a:r>
            <a:r>
              <a:rPr b="0" dirty="0">
                <a:solidFill>
                  <a:srgbClr val="B9BBBE"/>
                </a:solidFill>
                <a:latin typeface="Calibri"/>
              </a:rPr>
              <a:t>,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isAdmin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45720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44475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Calibri"/>
              </a:rPr>
              <a:t>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0195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id, name, description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3774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price, ammount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85292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companyId (FK), imgURL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solidFill>
            <a:srgbClr val="FEE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44475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Calibri"/>
              </a:rP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0195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id, date,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774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userId (FK)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85292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addressId (FK)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7033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3566160" cy="457200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77647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 err="1">
                <a:solidFill>
                  <a:srgbClr val="FFFFFF"/>
                </a:solidFill>
                <a:latin typeface="Calibri"/>
              </a:rPr>
              <a:t>OrderItems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23367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id, orderId (FK)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7091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productId (FK)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8464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quantity, priceAtPurchase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7033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97680" y="3703320"/>
            <a:ext cx="356616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34840" y="377647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Addresses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23367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id, city, zip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7091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address1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18464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userId (FK)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703320"/>
            <a:ext cx="3566160" cy="20574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3703320"/>
            <a:ext cx="3566160" cy="45720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20" y="377647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Calibri"/>
              </a:rPr>
              <a:t>Companies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233672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id,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7091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description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184648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location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A5241-BDEF-E5C1-5173-AA0FBEE2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6811AE-8CFF-FEC6-45D2-C23DD0BE5900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3C82D-6164-37BC-37AF-4B720794F3E0}"/>
              </a:ext>
            </a:extLst>
          </p:cNvPr>
          <p:cNvSpPr txBox="1"/>
          <p:nvPr/>
        </p:nvSpPr>
        <p:spPr>
          <a:xfrm>
            <a:off x="457200" y="22860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Adatbázis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hu-HU" sz="3400" b="1" dirty="0">
                <a:solidFill>
                  <a:srgbClr val="FFFFFF"/>
                </a:solidFill>
                <a:latin typeface="Calibri"/>
              </a:rPr>
              <a:t>Diagram és kötések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4BDFA-F2E6-075A-8701-A53ED5D3E33A}"/>
              </a:ext>
            </a:extLst>
          </p:cNvPr>
          <p:cNvSpPr txBox="1"/>
          <p:nvPr/>
        </p:nvSpPr>
        <p:spPr>
          <a:xfrm>
            <a:off x="457200" y="80467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MySQL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reláció</a:t>
            </a:r>
            <a:r>
              <a:rPr lang="hu-HU" b="0" dirty="0">
                <a:solidFill>
                  <a:srgbClr val="99FF99"/>
                </a:solidFill>
                <a:latin typeface="Calibri"/>
              </a:rPr>
              <a:t>k az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adatbázis</a:t>
            </a:r>
            <a:r>
              <a:rPr lang="hu-HU" b="0" dirty="0" err="1">
                <a:solidFill>
                  <a:srgbClr val="99FF99"/>
                </a:solidFill>
                <a:latin typeface="Calibri"/>
              </a:rPr>
              <a:t>ban</a:t>
            </a:r>
            <a:r>
              <a:rPr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Sequelize</a:t>
            </a:r>
            <a:r>
              <a:rPr b="0" dirty="0">
                <a:solidFill>
                  <a:srgbClr val="99FF99"/>
                </a:solidFill>
                <a:latin typeface="Calibri"/>
              </a:rPr>
              <a:t> ORM</a:t>
            </a:r>
            <a:r>
              <a:rPr lang="hu-HU" b="0" dirty="0">
                <a:solidFill>
                  <a:srgbClr val="99FF99"/>
                </a:solidFill>
                <a:latin typeface="Calibri"/>
              </a:rPr>
              <a:t>, Adatbázis struktúra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AD72B8-691E-8CD0-C6AB-BFEA99817FA3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Kép 42">
            <a:extLst>
              <a:ext uri="{FF2B5EF4-FFF2-40B4-BE49-F238E27FC236}">
                <a16:creationId xmlns:a16="http://schemas.microsoft.com/office/drawing/2014/main" id="{69CB426D-1028-A39D-E648-82291BF88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55" y="1174004"/>
            <a:ext cx="8107520" cy="5305052"/>
          </a:xfrm>
          <a:prstGeom prst="rect">
            <a:avLst/>
          </a:prstGeom>
        </p:spPr>
      </p:pic>
      <p:sp>
        <p:nvSpPr>
          <p:cNvPr id="45" name="Szövegdoboz 44">
            <a:extLst>
              <a:ext uri="{FF2B5EF4-FFF2-40B4-BE49-F238E27FC236}">
                <a16:creationId xmlns:a16="http://schemas.microsoft.com/office/drawing/2014/main" id="{57BA515D-DEC2-8557-A604-5A14882D38D6}"/>
              </a:ext>
            </a:extLst>
          </p:cNvPr>
          <p:cNvSpPr txBox="1"/>
          <p:nvPr/>
        </p:nvSpPr>
        <p:spPr>
          <a:xfrm>
            <a:off x="8591550" y="1564322"/>
            <a:ext cx="36957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750" b="1" dirty="0" err="1">
                <a:solidFill>
                  <a:srgbClr val="99FF99"/>
                </a:solidFill>
              </a:rPr>
              <a:t>Users.Id</a:t>
            </a:r>
            <a:r>
              <a:rPr lang="hu-HU" sz="1750" b="1" dirty="0">
                <a:solidFill>
                  <a:srgbClr val="99FF99"/>
                </a:solidFill>
              </a:rPr>
              <a:t> </a:t>
            </a:r>
            <a:r>
              <a:rPr lang="hu-HU" sz="1750" b="1" dirty="0">
                <a:solidFill>
                  <a:schemeClr val="bg1"/>
                </a:solidFill>
              </a:rPr>
              <a:t>-&gt; </a:t>
            </a:r>
            <a:r>
              <a:rPr lang="hu-HU" sz="1750" b="1" dirty="0" err="1">
                <a:solidFill>
                  <a:schemeClr val="bg1"/>
                </a:solidFill>
              </a:rPr>
              <a:t>Orders.</a:t>
            </a:r>
            <a:r>
              <a:rPr lang="hu-HU" sz="1750" b="1" dirty="0" err="1">
                <a:solidFill>
                  <a:srgbClr val="99FF99"/>
                </a:solidFill>
              </a:rPr>
              <a:t>UserId</a:t>
            </a:r>
            <a:br>
              <a:rPr lang="hu-HU" sz="1750" b="1" dirty="0">
                <a:solidFill>
                  <a:schemeClr val="bg1"/>
                </a:solidFill>
              </a:rPr>
            </a:br>
            <a:r>
              <a:rPr lang="hu-HU" sz="1750" b="1" dirty="0">
                <a:solidFill>
                  <a:schemeClr val="bg1"/>
                </a:solidFill>
              </a:rPr>
              <a:t>	       -&gt; </a:t>
            </a:r>
            <a:r>
              <a:rPr lang="hu-HU" sz="1750" b="1" dirty="0" err="1">
                <a:solidFill>
                  <a:schemeClr val="bg1"/>
                </a:solidFill>
              </a:rPr>
              <a:t>Addresses.</a:t>
            </a:r>
            <a:r>
              <a:rPr lang="hu-HU" sz="1750" b="1" dirty="0" err="1">
                <a:solidFill>
                  <a:srgbClr val="99FF99"/>
                </a:solidFill>
              </a:rPr>
              <a:t>UserId</a:t>
            </a:r>
            <a:endParaRPr lang="hu-HU" sz="1750" b="1" dirty="0">
              <a:solidFill>
                <a:srgbClr val="99FF99"/>
              </a:solidFill>
            </a:endParaRPr>
          </a:p>
          <a:p>
            <a:r>
              <a:rPr lang="hu-HU" sz="1750" b="1" dirty="0">
                <a:solidFill>
                  <a:schemeClr val="bg1"/>
                </a:solidFill>
              </a:rPr>
              <a:t>                -&gt; </a:t>
            </a:r>
            <a:r>
              <a:rPr lang="hu-HU" sz="1750" b="1" dirty="0" err="1">
                <a:solidFill>
                  <a:schemeClr val="bg1"/>
                </a:solidFill>
              </a:rPr>
              <a:t>BillingAddresses.</a:t>
            </a:r>
            <a:r>
              <a:rPr lang="hu-HU" sz="1750" b="1" dirty="0" err="1">
                <a:solidFill>
                  <a:srgbClr val="99FF99"/>
                </a:solidFill>
              </a:rPr>
              <a:t>UserId</a:t>
            </a:r>
            <a:br>
              <a:rPr lang="hu-HU" sz="1750" b="1" dirty="0">
                <a:solidFill>
                  <a:schemeClr val="bg1"/>
                </a:solidFill>
              </a:rPr>
            </a:br>
            <a:br>
              <a:rPr lang="hu-HU" sz="1750" b="1" dirty="0">
                <a:solidFill>
                  <a:schemeClr val="bg1"/>
                </a:solidFill>
              </a:rPr>
            </a:br>
            <a:r>
              <a:rPr lang="hu-HU" sz="1750" b="1" dirty="0" err="1">
                <a:solidFill>
                  <a:srgbClr val="99FF99"/>
                </a:solidFill>
              </a:rPr>
              <a:t>Companies.Id</a:t>
            </a:r>
            <a:r>
              <a:rPr lang="hu-HU" sz="1750" b="1" dirty="0">
                <a:solidFill>
                  <a:srgbClr val="99FF99"/>
                </a:solidFill>
              </a:rPr>
              <a:t> </a:t>
            </a:r>
            <a:r>
              <a:rPr lang="hu-HU" sz="1750" b="1" dirty="0">
                <a:solidFill>
                  <a:schemeClr val="bg1"/>
                </a:solidFill>
              </a:rPr>
              <a:t>-&gt; </a:t>
            </a:r>
            <a:r>
              <a:rPr lang="hu-HU" sz="1750" b="1" dirty="0" err="1">
                <a:solidFill>
                  <a:schemeClr val="bg1"/>
                </a:solidFill>
              </a:rPr>
              <a:t>Products.</a:t>
            </a:r>
            <a:r>
              <a:rPr lang="hu-HU" sz="1750" b="1" dirty="0" err="1">
                <a:solidFill>
                  <a:srgbClr val="99FF99"/>
                </a:solidFill>
              </a:rPr>
              <a:t>CompanyId</a:t>
            </a:r>
            <a:br>
              <a:rPr lang="hu-HU" sz="1750" b="1" dirty="0">
                <a:solidFill>
                  <a:schemeClr val="bg1"/>
                </a:solidFill>
              </a:rPr>
            </a:br>
            <a:br>
              <a:rPr lang="hu-HU" sz="1750" b="1" dirty="0">
                <a:solidFill>
                  <a:schemeClr val="bg1"/>
                </a:solidFill>
              </a:rPr>
            </a:br>
            <a:r>
              <a:rPr lang="hu-HU" sz="1750" b="1" dirty="0" err="1">
                <a:solidFill>
                  <a:srgbClr val="99FF99"/>
                </a:solidFill>
              </a:rPr>
              <a:t>Addresses.Id</a:t>
            </a:r>
            <a:r>
              <a:rPr lang="hu-HU" sz="1750" b="1" dirty="0">
                <a:solidFill>
                  <a:srgbClr val="99FF99"/>
                </a:solidFill>
              </a:rPr>
              <a:t> </a:t>
            </a:r>
            <a:r>
              <a:rPr lang="hu-HU" sz="1750" b="1" dirty="0">
                <a:solidFill>
                  <a:schemeClr val="bg1"/>
                </a:solidFill>
              </a:rPr>
              <a:t>-&gt; </a:t>
            </a:r>
            <a:r>
              <a:rPr lang="hu-HU" sz="1750" b="1" dirty="0" err="1">
                <a:solidFill>
                  <a:schemeClr val="bg1"/>
                </a:solidFill>
              </a:rPr>
              <a:t>Orders.</a:t>
            </a:r>
            <a:r>
              <a:rPr lang="hu-HU" sz="1750" b="1" dirty="0" err="1">
                <a:solidFill>
                  <a:srgbClr val="99FF99"/>
                </a:solidFill>
              </a:rPr>
              <a:t>AddressId</a:t>
            </a:r>
            <a:br>
              <a:rPr lang="hu-HU" sz="1750" b="1" dirty="0">
                <a:solidFill>
                  <a:schemeClr val="bg1"/>
                </a:solidFill>
              </a:rPr>
            </a:br>
            <a:br>
              <a:rPr lang="hu-HU" sz="1750" b="1" dirty="0">
                <a:solidFill>
                  <a:schemeClr val="bg1"/>
                </a:solidFill>
              </a:rPr>
            </a:br>
            <a:r>
              <a:rPr lang="hu-HU" sz="1750" b="1" dirty="0" err="1">
                <a:solidFill>
                  <a:srgbClr val="99FF99"/>
                </a:solidFill>
              </a:rPr>
              <a:t>Products.Id</a:t>
            </a:r>
            <a:r>
              <a:rPr lang="hu-HU" sz="1750" b="1" dirty="0">
                <a:solidFill>
                  <a:srgbClr val="99FF99"/>
                </a:solidFill>
              </a:rPr>
              <a:t> </a:t>
            </a:r>
            <a:r>
              <a:rPr lang="hu-HU" sz="1750" b="1" dirty="0">
                <a:solidFill>
                  <a:schemeClr val="bg1"/>
                </a:solidFill>
              </a:rPr>
              <a:t>-&gt; </a:t>
            </a:r>
            <a:r>
              <a:rPr lang="hu-HU" sz="1750" b="1" dirty="0" err="1">
                <a:solidFill>
                  <a:schemeClr val="bg1"/>
                </a:solidFill>
              </a:rPr>
              <a:t>OrderItems.</a:t>
            </a:r>
            <a:r>
              <a:rPr lang="hu-HU" sz="1750" b="1" dirty="0" err="1">
                <a:solidFill>
                  <a:srgbClr val="99FF99"/>
                </a:solidFill>
              </a:rPr>
              <a:t>ProductId</a:t>
            </a:r>
            <a:br>
              <a:rPr lang="hu-HU" sz="1750" b="1" dirty="0">
                <a:solidFill>
                  <a:schemeClr val="bg1"/>
                </a:solidFill>
              </a:rPr>
            </a:br>
            <a:br>
              <a:rPr lang="hu-HU" sz="1750" b="1" dirty="0">
                <a:solidFill>
                  <a:schemeClr val="bg1"/>
                </a:solidFill>
              </a:rPr>
            </a:br>
            <a:r>
              <a:rPr lang="hu-HU" sz="1750" b="1" dirty="0" err="1">
                <a:solidFill>
                  <a:srgbClr val="99FF99"/>
                </a:solidFill>
              </a:rPr>
              <a:t>Orders.Id</a:t>
            </a:r>
            <a:r>
              <a:rPr lang="hu-HU" sz="1750" b="1" dirty="0">
                <a:solidFill>
                  <a:srgbClr val="99FF99"/>
                </a:solidFill>
              </a:rPr>
              <a:t> </a:t>
            </a:r>
            <a:r>
              <a:rPr lang="hu-HU" sz="1750" b="1" dirty="0">
                <a:solidFill>
                  <a:schemeClr val="bg1"/>
                </a:solidFill>
              </a:rPr>
              <a:t>-&gt; </a:t>
            </a:r>
            <a:r>
              <a:rPr lang="hu-HU" sz="1750" b="1" dirty="0" err="1">
                <a:solidFill>
                  <a:schemeClr val="bg1"/>
                </a:solidFill>
              </a:rPr>
              <a:t>OrderItems</a:t>
            </a:r>
            <a:r>
              <a:rPr lang="hu-HU" sz="1750" b="1" dirty="0">
                <a:solidFill>
                  <a:schemeClr val="bg1"/>
                </a:solidFill>
              </a:rPr>
              <a:t>. </a:t>
            </a:r>
            <a:r>
              <a:rPr lang="hu-HU" sz="1750" b="1" dirty="0" err="1">
                <a:solidFill>
                  <a:srgbClr val="99FF99"/>
                </a:solidFill>
              </a:rPr>
              <a:t>OrderId</a:t>
            </a:r>
            <a:br>
              <a:rPr lang="hu-HU" sz="1750" b="1" dirty="0">
                <a:solidFill>
                  <a:schemeClr val="bg1"/>
                </a:solidFill>
              </a:rPr>
            </a:br>
            <a:r>
              <a:rPr lang="hu-HU" sz="1750" b="1" dirty="0">
                <a:solidFill>
                  <a:schemeClr val="bg1"/>
                </a:solidFill>
              </a:rPr>
              <a:t>	         -&gt; </a:t>
            </a:r>
            <a:r>
              <a:rPr lang="hu-HU" sz="1750" b="1" dirty="0" err="1">
                <a:solidFill>
                  <a:schemeClr val="bg1"/>
                </a:solidFill>
              </a:rPr>
              <a:t>Logs.</a:t>
            </a:r>
            <a:r>
              <a:rPr lang="hu-HU" sz="1750" b="1" dirty="0" err="1">
                <a:solidFill>
                  <a:srgbClr val="99FF99"/>
                </a:solidFill>
              </a:rPr>
              <a:t>OrderId</a:t>
            </a:r>
            <a:endParaRPr lang="hu-HU" sz="1750" b="1" dirty="0">
              <a:solidFill>
                <a:srgbClr val="99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08311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Tesztelési Stratégia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57F287"/>
                </a:solidFill>
                <a:latin typeface="Calibri"/>
              </a:rPr>
              <a:t>110 </a:t>
            </a:r>
            <a:r>
              <a:rPr b="0" dirty="0" err="1">
                <a:solidFill>
                  <a:srgbClr val="57F287"/>
                </a:solidFill>
                <a:latin typeface="Calibri"/>
              </a:rPr>
              <a:t>teszteset</a:t>
            </a:r>
            <a:r>
              <a:rPr b="0" dirty="0">
                <a:solidFill>
                  <a:srgbClr val="57F287"/>
                </a:solidFill>
                <a:latin typeface="Calibri"/>
              </a:rPr>
              <a:t> — 100% </a:t>
            </a:r>
            <a:r>
              <a:rPr b="0" dirty="0" err="1">
                <a:solidFill>
                  <a:srgbClr val="57F287"/>
                </a:solidFill>
                <a:latin typeface="Calibri"/>
              </a:rPr>
              <a:t>sikerességi</a:t>
            </a:r>
            <a:r>
              <a:rPr b="0" dirty="0">
                <a:solidFill>
                  <a:srgbClr val="57F287"/>
                </a:solidFill>
                <a:latin typeface="Calibri"/>
              </a:rPr>
              <a:t> </a:t>
            </a:r>
            <a:r>
              <a:rPr b="0" dirty="0" err="1">
                <a:solidFill>
                  <a:srgbClr val="57F287"/>
                </a:solidFill>
                <a:latin typeface="Calibri"/>
              </a:rPr>
              <a:t>arány</a:t>
            </a:r>
            <a:endParaRPr b="0" dirty="0">
              <a:solidFill>
                <a:srgbClr val="57F287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83732"/>
            <a:ext cx="11247120" cy="1288863"/>
          </a:xfrm>
          <a:prstGeom prst="roundRect">
            <a:avLst>
              <a:gd name="adj" fmla="val 5000"/>
            </a:avLst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5173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865F2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87821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BBBE"/>
                </a:solidFill>
                <a:latin typeface="Calibri"/>
              </a:rPr>
              <a:t>Manuális web
tesztek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75173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865F2"/>
                </a:solidFill>
                <a:latin typeface="Calibr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87821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BBBE"/>
                </a:solidFill>
                <a:latin typeface="Calibri"/>
              </a:rPr>
              <a:t>API automata
tesztek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5173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865F2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87821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BBBE"/>
                </a:solidFill>
                <a:latin typeface="Calibri"/>
              </a:rPr>
              <a:t>WPF unit
tesztek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375173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865F2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1987821"/>
            <a:ext cx="1828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BBBE"/>
                </a:solidFill>
                <a:latin typeface="Calibri"/>
              </a:rPr>
              <a:t>Avalonia unit
tesztek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907792"/>
            <a:ext cx="54864" cy="109728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28529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🖱️ Manuális Tesztek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4612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Chrome DevTools —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regisztráció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bejelentkezés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kosár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rendelés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profil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reszponzivitás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907792"/>
            <a:ext cx="54864" cy="109728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28529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⚙️ API Tesztek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246120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Jest +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Supertest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— REST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végpontok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HTTP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kódjai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üzenetei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" y="434340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507992"/>
            <a:ext cx="54864" cy="109728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4531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🔬 Unit Tesztek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4632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MSTest (.NET) — OrdersClass.TotalPrice számítás, ServerConnection biztonság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34340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507992"/>
            <a:ext cx="54864" cy="109728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44531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🔒 Biztonsági Tesztek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84632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HTTPS kényszer, JWT validáció, jogosultságvédelem, auth-check.js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000" b="1" dirty="0">
                <a:solidFill>
                  <a:srgbClr val="FFFFFF"/>
                </a:solidFill>
              </a:rPr>
              <a:t>Testing </a:t>
            </a:r>
            <a:r>
              <a:rPr lang="hu-HU" sz="3000" b="1" dirty="0" err="1">
                <a:solidFill>
                  <a:srgbClr val="FFFFFF"/>
                </a:solidFill>
              </a:rPr>
              <a:t>Results</a:t>
            </a:r>
            <a:r>
              <a:rPr lang="hu-HU" sz="3000" b="1" dirty="0">
                <a:solidFill>
                  <a:srgbClr val="FFFFFF"/>
                </a:solidFill>
              </a:rPr>
              <a:t> &amp; Bug </a:t>
            </a:r>
            <a:r>
              <a:rPr lang="hu-HU" sz="3000" b="1" dirty="0" err="1">
                <a:solidFill>
                  <a:srgbClr val="FFFFFF"/>
                </a:solidFill>
              </a:rPr>
              <a:t>Fixes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9FF99"/>
                </a:solidFill>
              </a:rPr>
              <a:t>All critical bugs fixed before production release</a:t>
            </a:r>
            <a:endParaRPr sz="2000"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536192"/>
            <a:ext cx="54864" cy="1188720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50876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777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BUG-01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087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50876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3272A"/>
                </a:solidFill>
                <a:latin typeface="Calibri"/>
              </a:rPr>
              <a:t>✅ </a:t>
            </a:r>
            <a:r>
              <a:rPr lang="hu-HU" sz="1400" b="1" dirty="0">
                <a:solidFill>
                  <a:srgbClr val="23272A"/>
                </a:solidFill>
                <a:latin typeface="Calibri"/>
              </a:rPr>
              <a:t>Fixed</a:t>
            </a:r>
            <a:endParaRPr sz="1400" b="1" dirty="0">
              <a:solidFill>
                <a:srgbClr val="23272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8760" y="1481328"/>
            <a:ext cx="2515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b="1" dirty="0" err="1">
                <a:solidFill>
                  <a:srgbClr val="FFFFFF"/>
                </a:solidFill>
              </a:rPr>
              <a:t>Cart</a:t>
            </a:r>
            <a:r>
              <a:rPr lang="hu-HU" sz="2000" b="1" dirty="0">
                <a:solidFill>
                  <a:srgbClr val="FFFFFF"/>
                </a:solidFill>
              </a:rPr>
              <a:t> </a:t>
            </a:r>
            <a:r>
              <a:rPr lang="hu-HU" sz="2000" b="1" dirty="0" err="1">
                <a:solidFill>
                  <a:srgbClr val="FFFFFF"/>
                </a:solidFill>
              </a:rPr>
              <a:t>key</a:t>
            </a:r>
            <a:r>
              <a:rPr lang="hu-HU" sz="2000" b="1" dirty="0">
                <a:solidFill>
                  <a:srgbClr val="FFFFFF"/>
                </a:solidFill>
              </a:rPr>
              <a:t> </a:t>
            </a:r>
            <a:r>
              <a:rPr lang="hu-HU" sz="2000" b="1" dirty="0" err="1">
                <a:solidFill>
                  <a:srgbClr val="FFFFFF"/>
                </a:solidFill>
              </a:rPr>
              <a:t>collision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193852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9BBBE"/>
                </a:solidFill>
              </a:rPr>
              <a:t>Different users' carts overwrote each other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— 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Fix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: cart_{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userId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} </a:t>
            </a:r>
            <a:r>
              <a:rPr lang="hu-HU" sz="1600" b="0" dirty="0" err="1">
                <a:solidFill>
                  <a:srgbClr val="B9BBBE"/>
                </a:solidFill>
                <a:latin typeface="Calibri"/>
              </a:rPr>
              <a:t>key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536192"/>
            <a:ext cx="54864" cy="1188720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82512" y="150876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508760"/>
            <a:ext cx="777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BUG-02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15087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0" y="150876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3272A"/>
                </a:solidFill>
                <a:latin typeface="Calibri"/>
              </a:rPr>
              <a:t>✅ </a:t>
            </a:r>
            <a:r>
              <a:rPr lang="hu-HU" sz="1400" b="1" dirty="0">
                <a:solidFill>
                  <a:srgbClr val="23272A"/>
                </a:solidFill>
                <a:latin typeface="Calibri"/>
              </a:rPr>
              <a:t>Fixed</a:t>
            </a:r>
            <a:endParaRPr sz="1400" b="1" dirty="0">
              <a:solidFill>
                <a:srgbClr val="23272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69479" y="1481328"/>
            <a:ext cx="29535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Admin </a:t>
            </a:r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permission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bypass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93852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9BBBE"/>
                </a:solidFill>
              </a:rPr>
              <a:t>Normal user could access the admin panel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— 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Fix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: auth-check.js </a:t>
            </a:r>
            <a:r>
              <a:rPr lang="hu-HU" sz="1600" dirty="0" err="1">
                <a:solidFill>
                  <a:srgbClr val="B9BBBE"/>
                </a:solidFill>
              </a:rPr>
              <a:t>confirmed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306324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227832"/>
            <a:ext cx="54864" cy="1188720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" y="320040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3200400"/>
            <a:ext cx="777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BUG-03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20040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0040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3272A"/>
                </a:solidFill>
                <a:latin typeface="Calibri"/>
              </a:rPr>
              <a:t>✅ </a:t>
            </a:r>
            <a:r>
              <a:rPr lang="hu-HU" sz="1400" b="1" dirty="0">
                <a:solidFill>
                  <a:srgbClr val="23272A"/>
                </a:solidFill>
                <a:latin typeface="Calibri"/>
              </a:rPr>
              <a:t>Fixed</a:t>
            </a:r>
            <a:endParaRPr sz="1400" b="1" dirty="0">
              <a:solidFill>
                <a:srgbClr val="23272A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08760" y="3172968"/>
            <a:ext cx="2796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b="1" dirty="0">
                <a:solidFill>
                  <a:srgbClr val="FFFFFF"/>
                </a:solidFill>
              </a:rPr>
              <a:t>List </a:t>
            </a:r>
            <a:r>
              <a:rPr lang="hu-HU" sz="2000" b="1" dirty="0" err="1">
                <a:solidFill>
                  <a:srgbClr val="FFFFFF"/>
                </a:solidFill>
              </a:rPr>
              <a:t>not</a:t>
            </a:r>
            <a:r>
              <a:rPr lang="hu-HU" sz="2000" b="1" dirty="0">
                <a:solidFill>
                  <a:srgbClr val="FFFFFF"/>
                </a:solidFill>
              </a:rPr>
              <a:t> </a:t>
            </a:r>
            <a:r>
              <a:rPr lang="hu-HU" sz="2000" b="1" dirty="0" err="1">
                <a:solidFill>
                  <a:srgbClr val="FFFFFF"/>
                </a:solidFill>
              </a:rPr>
              <a:t>updated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363016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9BBBE"/>
                </a:solidFill>
              </a:rPr>
              <a:t>The list was not updated automatically after deleting a product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— 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Fix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: async reload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06324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227832"/>
            <a:ext cx="54864" cy="1188720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82512" y="320040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3200400"/>
            <a:ext cx="777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BUG-04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320040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0" y="320040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3272A"/>
                </a:solidFill>
                <a:latin typeface="Calibri"/>
              </a:rPr>
              <a:t>✅ </a:t>
            </a:r>
            <a:r>
              <a:rPr lang="hu-HU" sz="1400" b="1" dirty="0">
                <a:solidFill>
                  <a:srgbClr val="23272A"/>
                </a:solidFill>
                <a:latin typeface="Calibri"/>
              </a:rPr>
              <a:t>Fixed</a:t>
            </a:r>
            <a:endParaRPr sz="1400" b="1" dirty="0">
              <a:solidFill>
                <a:srgbClr val="23272A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69479" y="3172968"/>
            <a:ext cx="29535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000" b="1" dirty="0" err="1">
                <a:solidFill>
                  <a:srgbClr val="FFFFFF"/>
                </a:solidFill>
              </a:rPr>
              <a:t>Card</a:t>
            </a:r>
            <a:r>
              <a:rPr lang="hu-HU" sz="2000" b="1" dirty="0">
                <a:solidFill>
                  <a:srgbClr val="FFFFFF"/>
                </a:solidFill>
              </a:rPr>
              <a:t> </a:t>
            </a:r>
            <a:r>
              <a:rPr lang="hu-HU" sz="2000" b="1" dirty="0" err="1">
                <a:solidFill>
                  <a:srgbClr val="FFFFFF"/>
                </a:solidFill>
              </a:rPr>
              <a:t>expiration</a:t>
            </a:r>
            <a:r>
              <a:rPr lang="hu-HU" sz="2000" b="1" dirty="0">
                <a:solidFill>
                  <a:srgbClr val="FFFFFF"/>
                </a:solidFill>
              </a:rPr>
              <a:t> </a:t>
            </a:r>
            <a:r>
              <a:rPr lang="hu-HU" sz="2000" b="1" dirty="0" err="1">
                <a:solidFill>
                  <a:srgbClr val="FFFFFF"/>
                </a:solidFill>
              </a:rPr>
              <a:t>validation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19088" y="363016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9BBBE"/>
                </a:solidFill>
              </a:rPr>
              <a:t>00 months left on the expiration date</a:t>
            </a:r>
            <a:r>
              <a:rPr lang="hu-HU" sz="1600" dirty="0">
                <a:solidFill>
                  <a:srgbClr val="B9BBBE"/>
                </a:solidFill>
              </a:rPr>
              <a:t> 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— 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Fix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: 01-12 </a:t>
            </a:r>
            <a:r>
              <a:rPr lang="hu-HU" sz="1600" b="0" dirty="0" err="1">
                <a:solidFill>
                  <a:srgbClr val="B9BBBE"/>
                </a:solidFill>
                <a:latin typeface="Calibri"/>
              </a:rPr>
              <a:t>check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57200" y="475488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4919472"/>
            <a:ext cx="54864" cy="1188720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1792" y="489204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4892040"/>
            <a:ext cx="777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BUG-05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489204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54880" y="489204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3272A"/>
                </a:solidFill>
                <a:latin typeface="Calibri"/>
              </a:rPr>
              <a:t>✅ </a:t>
            </a:r>
            <a:r>
              <a:rPr lang="hu-HU" sz="1400" b="1" dirty="0">
                <a:solidFill>
                  <a:srgbClr val="23272A"/>
                </a:solidFill>
                <a:latin typeface="Calibri"/>
              </a:rPr>
              <a:t>Fixed</a:t>
            </a:r>
            <a:endParaRPr sz="1400" b="1" dirty="0">
              <a:solidFill>
                <a:srgbClr val="23272A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508760" y="4864608"/>
            <a:ext cx="2586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HTTP </a:t>
            </a:r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connection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8368" y="532180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B9BBBE"/>
                </a:solidFill>
              </a:rPr>
              <a:t>ServerConnection</a:t>
            </a:r>
            <a:r>
              <a:rPr lang="en-US" sz="1600" dirty="0">
                <a:solidFill>
                  <a:srgbClr val="B9BBBE"/>
                </a:solidFill>
              </a:rPr>
              <a:t> did not throw an exception for HTTP URL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— 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Fix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ArgumentException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217920" y="475488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4919472"/>
            <a:ext cx="54864" cy="1188720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82512" y="489204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82512" y="4892040"/>
            <a:ext cx="777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BUG-06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0" y="489204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515600" y="4892040"/>
            <a:ext cx="1005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3272A"/>
                </a:solidFill>
                <a:latin typeface="Calibri"/>
              </a:rPr>
              <a:t>✅ </a:t>
            </a:r>
            <a:r>
              <a:rPr lang="hu-HU" sz="1400" b="1" dirty="0">
                <a:solidFill>
                  <a:srgbClr val="23272A"/>
                </a:solidFill>
                <a:latin typeface="Calibri"/>
              </a:rPr>
              <a:t>Fixed</a:t>
            </a:r>
            <a:endParaRPr sz="1400" b="1" dirty="0">
              <a:solidFill>
                <a:srgbClr val="23272A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269479" y="4864608"/>
            <a:ext cx="29535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 err="1">
                <a:solidFill>
                  <a:srgbClr val="FFFFFF"/>
                </a:solidFill>
                <a:latin typeface="Calibri"/>
              </a:rPr>
              <a:t>NullReference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error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19088" y="532180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B9BBBE"/>
                </a:solidFill>
              </a:rPr>
              <a:t>OrdersClass.TotalPrice</a:t>
            </a:r>
            <a:r>
              <a:rPr lang="en-US" sz="1600" dirty="0">
                <a:solidFill>
                  <a:srgbClr val="B9BBBE"/>
                </a:solidFill>
              </a:rPr>
              <a:t> crashed for null Items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— 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Fix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: null-safe 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operator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3B993-0A73-A8BB-2DBC-8CB91DD73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B41D86-3BEB-8E8C-5371-7FAEF7582B66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F42EE-6D5E-A16B-64C9-B86E74781FD1}"/>
              </a:ext>
            </a:extLst>
          </p:cNvPr>
          <p:cNvSpPr txBox="1"/>
          <p:nvPr/>
        </p:nvSpPr>
        <p:spPr>
          <a:xfrm>
            <a:off x="457200" y="22860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3000" b="1" dirty="0" err="1">
                <a:solidFill>
                  <a:srgbClr val="FFFFFF"/>
                </a:solidFill>
              </a:rPr>
              <a:t>Teamwork</a:t>
            </a:r>
            <a:r>
              <a:rPr lang="hu-HU" sz="3000" b="1" dirty="0">
                <a:solidFill>
                  <a:srgbClr val="FFFFFF"/>
                </a:solidFill>
              </a:rPr>
              <a:t> and </a:t>
            </a:r>
            <a:r>
              <a:rPr lang="hu-HU" sz="3000" b="1" dirty="0" err="1">
                <a:solidFill>
                  <a:srgbClr val="FFFFFF"/>
                </a:solidFill>
              </a:rPr>
              <a:t>task</a:t>
            </a:r>
            <a:r>
              <a:rPr lang="hu-HU" sz="3000" b="1" dirty="0">
                <a:solidFill>
                  <a:srgbClr val="FFFFFF"/>
                </a:solidFill>
              </a:rPr>
              <a:t> </a:t>
            </a:r>
            <a:r>
              <a:rPr lang="hu-HU" sz="3000" b="1" dirty="0" err="1">
                <a:solidFill>
                  <a:srgbClr val="FFFFFF"/>
                </a:solidFill>
              </a:rPr>
              <a:t>division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61492-69F9-D1A1-6D50-829AD0B2B76E}"/>
              </a:ext>
            </a:extLst>
          </p:cNvPr>
          <p:cNvSpPr txBox="1"/>
          <p:nvPr/>
        </p:nvSpPr>
        <p:spPr>
          <a:xfrm>
            <a:off x="457200" y="804672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9FF99"/>
                </a:solidFill>
              </a:rPr>
              <a:t>Everyone was given a task that they were best at.</a:t>
            </a:r>
            <a:endParaRPr sz="2000"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B41C8C-007C-A177-767F-C29ACE5D403B}"/>
              </a:ext>
            </a:extLst>
          </p:cNvPr>
          <p:cNvSpPr/>
          <p:nvPr/>
        </p:nvSpPr>
        <p:spPr>
          <a:xfrm>
            <a:off x="457200" y="137160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14379D-64EA-1B72-F747-B52B7762B015}"/>
              </a:ext>
            </a:extLst>
          </p:cNvPr>
          <p:cNvSpPr/>
          <p:nvPr/>
        </p:nvSpPr>
        <p:spPr>
          <a:xfrm>
            <a:off x="457200" y="1536192"/>
            <a:ext cx="54864" cy="1188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40D7EE-2E15-B5D8-A7F1-5EA17D1DD1B5}"/>
              </a:ext>
            </a:extLst>
          </p:cNvPr>
          <p:cNvSpPr/>
          <p:nvPr/>
        </p:nvSpPr>
        <p:spPr>
          <a:xfrm>
            <a:off x="621792" y="150876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7B24AD-9B4C-0F74-618B-FB7E309E6DDC}"/>
              </a:ext>
            </a:extLst>
          </p:cNvPr>
          <p:cNvSpPr txBox="1"/>
          <p:nvPr/>
        </p:nvSpPr>
        <p:spPr>
          <a:xfrm>
            <a:off x="621792" y="1508760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600" b="1" dirty="0">
                <a:latin typeface="Calibri"/>
              </a:rPr>
              <a:t>Márk</a:t>
            </a:r>
            <a:endParaRPr sz="1600" b="1" dirty="0"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E6A2A6-B977-48D6-8568-FEA95E25CEEC}"/>
              </a:ext>
            </a:extLst>
          </p:cNvPr>
          <p:cNvSpPr txBox="1"/>
          <p:nvPr/>
        </p:nvSpPr>
        <p:spPr>
          <a:xfrm>
            <a:off x="1508760" y="1481328"/>
            <a:ext cx="2515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000" b="1" dirty="0">
                <a:solidFill>
                  <a:srgbClr val="FFFFFF"/>
                </a:solidFill>
                <a:latin typeface="Calibri"/>
              </a:rPr>
              <a:t>Backend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03088F-86A8-31BB-A53D-7E0C024B1D64}"/>
              </a:ext>
            </a:extLst>
          </p:cNvPr>
          <p:cNvSpPr txBox="1"/>
          <p:nvPr/>
        </p:nvSpPr>
        <p:spPr>
          <a:xfrm>
            <a:off x="658368" y="193852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1600" b="0" dirty="0" err="1">
                <a:solidFill>
                  <a:srgbClr val="B9BBBE"/>
                </a:solidFill>
                <a:latin typeface="Calibri"/>
              </a:rPr>
              <a:t>dbHandler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, Auth, </a:t>
            </a:r>
            <a:r>
              <a:rPr lang="hu-HU" sz="1600" dirty="0" err="1">
                <a:solidFill>
                  <a:srgbClr val="B9BBBE"/>
                </a:solidFill>
                <a:latin typeface="Calibri"/>
              </a:rPr>
              <a:t>R</a:t>
            </a:r>
            <a:r>
              <a:rPr lang="hu-HU" sz="1600" b="0" dirty="0" err="1">
                <a:solidFill>
                  <a:srgbClr val="B9BBBE"/>
                </a:solidFill>
                <a:latin typeface="Calibri"/>
              </a:rPr>
              <a:t>outes</a:t>
            </a:r>
            <a:r>
              <a:rPr lang="hu-HU" sz="1600" b="0" dirty="0">
                <a:solidFill>
                  <a:srgbClr val="B9BBBE"/>
                </a:solidFill>
                <a:latin typeface="Calibri"/>
              </a:rPr>
              <a:t>, Server.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5727A9-1385-3B35-53B6-5B415CDD1387}"/>
              </a:ext>
            </a:extLst>
          </p:cNvPr>
          <p:cNvSpPr/>
          <p:nvPr/>
        </p:nvSpPr>
        <p:spPr>
          <a:xfrm>
            <a:off x="6217920" y="137160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9527EE-D3C7-9271-C1C5-FFE9459F5CB8}"/>
              </a:ext>
            </a:extLst>
          </p:cNvPr>
          <p:cNvSpPr/>
          <p:nvPr/>
        </p:nvSpPr>
        <p:spPr>
          <a:xfrm>
            <a:off x="6217920" y="1536192"/>
            <a:ext cx="54864" cy="1188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F6F75E-4D13-0084-11DE-551098A122F0}"/>
              </a:ext>
            </a:extLst>
          </p:cNvPr>
          <p:cNvSpPr/>
          <p:nvPr/>
        </p:nvSpPr>
        <p:spPr>
          <a:xfrm>
            <a:off x="6382512" y="150876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3A981F-78D7-966C-E889-B0317A29FBE8}"/>
              </a:ext>
            </a:extLst>
          </p:cNvPr>
          <p:cNvSpPr txBox="1"/>
          <p:nvPr/>
        </p:nvSpPr>
        <p:spPr>
          <a:xfrm>
            <a:off x="6382512" y="1508760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600" b="1" dirty="0">
                <a:latin typeface="Calibri"/>
              </a:rPr>
              <a:t>Ricsi</a:t>
            </a:r>
            <a:endParaRPr sz="1600" b="1" dirty="0"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4D8FA5-0053-EA16-B92F-E57A49BAA199}"/>
              </a:ext>
            </a:extLst>
          </p:cNvPr>
          <p:cNvSpPr txBox="1"/>
          <p:nvPr/>
        </p:nvSpPr>
        <p:spPr>
          <a:xfrm>
            <a:off x="7269479" y="1481328"/>
            <a:ext cx="29535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000" b="1" dirty="0">
                <a:solidFill>
                  <a:srgbClr val="FFFFFF"/>
                </a:solidFill>
                <a:latin typeface="Calibri"/>
              </a:rPr>
              <a:t>Frontend 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EC571B-5B49-4B50-3EFC-C19F66184BA9}"/>
              </a:ext>
            </a:extLst>
          </p:cNvPr>
          <p:cNvSpPr txBox="1"/>
          <p:nvPr/>
        </p:nvSpPr>
        <p:spPr>
          <a:xfrm>
            <a:off x="6419088" y="193852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9BBBE"/>
                </a:solidFill>
              </a:rPr>
              <a:t>We connected the backend to the html page using fetch.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7F488F5-2756-24FA-BF4A-2FBB33FFB942}"/>
              </a:ext>
            </a:extLst>
          </p:cNvPr>
          <p:cNvSpPr/>
          <p:nvPr/>
        </p:nvSpPr>
        <p:spPr>
          <a:xfrm>
            <a:off x="457200" y="306324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7231CC-9134-3747-DFA9-E955B8B2918E}"/>
              </a:ext>
            </a:extLst>
          </p:cNvPr>
          <p:cNvSpPr/>
          <p:nvPr/>
        </p:nvSpPr>
        <p:spPr>
          <a:xfrm>
            <a:off x="457200" y="3227832"/>
            <a:ext cx="54864" cy="1188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BA21E1F-BBD1-B1B4-0F7A-2658DFE29455}"/>
              </a:ext>
            </a:extLst>
          </p:cNvPr>
          <p:cNvSpPr/>
          <p:nvPr/>
        </p:nvSpPr>
        <p:spPr>
          <a:xfrm>
            <a:off x="621792" y="320040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7490C8-1F80-19B9-9778-E88922DC48C4}"/>
              </a:ext>
            </a:extLst>
          </p:cNvPr>
          <p:cNvSpPr txBox="1"/>
          <p:nvPr/>
        </p:nvSpPr>
        <p:spPr>
          <a:xfrm>
            <a:off x="621792" y="3200400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600" b="1" dirty="0">
                <a:latin typeface="Calibri"/>
              </a:rPr>
              <a:t>Márk</a:t>
            </a:r>
            <a:endParaRPr sz="1600" b="1" dirty="0"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923616-3620-5E35-36FA-CFC5D314DDB9}"/>
              </a:ext>
            </a:extLst>
          </p:cNvPr>
          <p:cNvSpPr txBox="1"/>
          <p:nvPr/>
        </p:nvSpPr>
        <p:spPr>
          <a:xfrm>
            <a:off x="1508759" y="3172968"/>
            <a:ext cx="31489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000" b="1" dirty="0">
                <a:solidFill>
                  <a:srgbClr val="FFFFFF"/>
                </a:solidFill>
                <a:latin typeface="Calibri"/>
              </a:rPr>
              <a:t>Backend &amp; </a:t>
            </a:r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Routes</a:t>
            </a:r>
            <a:r>
              <a:rPr lang="hu-HU" sz="2000" b="1" dirty="0">
                <a:solidFill>
                  <a:srgbClr val="FFFFFF"/>
                </a:solidFill>
                <a:latin typeface="Calibri"/>
              </a:rPr>
              <a:t> Testing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582386-A81D-CC34-E733-573A10776793}"/>
              </a:ext>
            </a:extLst>
          </p:cNvPr>
          <p:cNvSpPr txBox="1"/>
          <p:nvPr/>
        </p:nvSpPr>
        <p:spPr>
          <a:xfrm>
            <a:off x="658368" y="363016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>
                <a:solidFill>
                  <a:srgbClr val="B9BBBE"/>
                </a:solidFill>
              </a:rPr>
              <a:t>API TESTS --- </a:t>
            </a:r>
            <a:r>
              <a:rPr lang="hu-HU" sz="1600" dirty="0" err="1">
                <a:solidFill>
                  <a:srgbClr val="B9BBBE"/>
                </a:solidFill>
              </a:rPr>
              <a:t>Jest</a:t>
            </a:r>
            <a:r>
              <a:rPr lang="hu-HU" sz="1600" dirty="0">
                <a:solidFill>
                  <a:srgbClr val="B9BBBE"/>
                </a:solidFill>
              </a:rPr>
              <a:t> + </a:t>
            </a:r>
            <a:r>
              <a:rPr lang="hu-HU" sz="1600" dirty="0" err="1">
                <a:solidFill>
                  <a:srgbClr val="B9BBBE"/>
                </a:solidFill>
              </a:rPr>
              <a:t>Supertest</a:t>
            </a:r>
            <a:r>
              <a:rPr lang="hu-HU" sz="1600" dirty="0">
                <a:solidFill>
                  <a:srgbClr val="B9BBBE"/>
                </a:solidFill>
              </a:rPr>
              <a:t>  REST </a:t>
            </a:r>
            <a:r>
              <a:rPr lang="hu-HU" sz="1600" dirty="0" err="1">
                <a:solidFill>
                  <a:srgbClr val="B9BBBE"/>
                </a:solidFill>
              </a:rPr>
              <a:t>endpoint</a:t>
            </a:r>
            <a:r>
              <a:rPr lang="hu-HU" sz="1600" dirty="0">
                <a:solidFill>
                  <a:srgbClr val="B9BBBE"/>
                </a:solidFill>
              </a:rPr>
              <a:t> HTTP </a:t>
            </a:r>
            <a:r>
              <a:rPr lang="hu-HU" sz="1600" dirty="0" err="1">
                <a:solidFill>
                  <a:srgbClr val="B9BBBE"/>
                </a:solidFill>
              </a:rPr>
              <a:t>codes</a:t>
            </a:r>
            <a:r>
              <a:rPr lang="hu-HU" sz="1600" dirty="0">
                <a:solidFill>
                  <a:srgbClr val="B9BBBE"/>
                </a:solidFill>
              </a:rPr>
              <a:t> and </a:t>
            </a:r>
            <a:r>
              <a:rPr lang="hu-HU" sz="1600" dirty="0" err="1">
                <a:solidFill>
                  <a:srgbClr val="B9BBBE"/>
                </a:solidFill>
              </a:rPr>
              <a:t>messages</a:t>
            </a:r>
            <a:r>
              <a:rPr lang="hu-HU" sz="1600" dirty="0">
                <a:solidFill>
                  <a:srgbClr val="B9BBBE"/>
                </a:solidFill>
              </a:rPr>
              <a:t>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7B5904E-49FF-D077-4763-F957CE23DB7B}"/>
              </a:ext>
            </a:extLst>
          </p:cNvPr>
          <p:cNvSpPr/>
          <p:nvPr/>
        </p:nvSpPr>
        <p:spPr>
          <a:xfrm>
            <a:off x="6217920" y="306324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5162B0-8B5E-75EB-54B8-89390C89558E}"/>
              </a:ext>
            </a:extLst>
          </p:cNvPr>
          <p:cNvSpPr/>
          <p:nvPr/>
        </p:nvSpPr>
        <p:spPr>
          <a:xfrm>
            <a:off x="6217920" y="3227832"/>
            <a:ext cx="54864" cy="1188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9084F0B-3370-EC60-CB9D-56B6C5C47426}"/>
              </a:ext>
            </a:extLst>
          </p:cNvPr>
          <p:cNvSpPr/>
          <p:nvPr/>
        </p:nvSpPr>
        <p:spPr>
          <a:xfrm>
            <a:off x="6382512" y="320040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20623F-4148-F176-C795-ABD4F1D64279}"/>
              </a:ext>
            </a:extLst>
          </p:cNvPr>
          <p:cNvSpPr txBox="1"/>
          <p:nvPr/>
        </p:nvSpPr>
        <p:spPr>
          <a:xfrm>
            <a:off x="6382512" y="3200400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600" b="1" dirty="0">
                <a:latin typeface="Calibri"/>
              </a:rPr>
              <a:t>Ricsi</a:t>
            </a:r>
            <a:endParaRPr sz="1600" b="1" dirty="0"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6B472D-E421-2209-AB2B-72EBBB027A32}"/>
              </a:ext>
            </a:extLst>
          </p:cNvPr>
          <p:cNvSpPr txBox="1"/>
          <p:nvPr/>
        </p:nvSpPr>
        <p:spPr>
          <a:xfrm>
            <a:off x="7269479" y="3172968"/>
            <a:ext cx="41605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Responsive</a:t>
            </a:r>
            <a:r>
              <a:rPr lang="hu-HU" sz="2000" b="1" dirty="0">
                <a:solidFill>
                  <a:srgbClr val="FFFFFF"/>
                </a:solidFill>
                <a:latin typeface="Calibri"/>
              </a:rPr>
              <a:t> Website, </a:t>
            </a:r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Admin</a:t>
            </a:r>
            <a:r>
              <a:rPr lang="hu-HU" sz="2000" b="1" dirty="0">
                <a:solidFill>
                  <a:srgbClr val="FFFFFF"/>
                </a:solidFill>
                <a:latin typeface="Calibri"/>
              </a:rPr>
              <a:t> Website 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101D8A-ABE5-3710-7577-F2B6D77B40E4}"/>
              </a:ext>
            </a:extLst>
          </p:cNvPr>
          <p:cNvSpPr txBox="1"/>
          <p:nvPr/>
        </p:nvSpPr>
        <p:spPr>
          <a:xfrm>
            <a:off x="6419088" y="363016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9BBBE"/>
                </a:solidFill>
              </a:rPr>
              <a:t>We created a responsive web store for users and an administration page for phones and desktop computers.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9CECF8E-5B68-7F86-B5DB-CF6800E5C7F9}"/>
              </a:ext>
            </a:extLst>
          </p:cNvPr>
          <p:cNvSpPr/>
          <p:nvPr/>
        </p:nvSpPr>
        <p:spPr>
          <a:xfrm>
            <a:off x="457200" y="475488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ED702D2-3AC4-CD73-53BC-94EDD93FA8F4}"/>
              </a:ext>
            </a:extLst>
          </p:cNvPr>
          <p:cNvSpPr/>
          <p:nvPr/>
        </p:nvSpPr>
        <p:spPr>
          <a:xfrm>
            <a:off x="457200" y="4919472"/>
            <a:ext cx="54864" cy="1188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115B4F37-30E6-D25A-92F8-A64C037D2113}"/>
              </a:ext>
            </a:extLst>
          </p:cNvPr>
          <p:cNvSpPr/>
          <p:nvPr/>
        </p:nvSpPr>
        <p:spPr>
          <a:xfrm>
            <a:off x="621792" y="489204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3F383B-5087-1DCC-1AAA-E51820367512}"/>
              </a:ext>
            </a:extLst>
          </p:cNvPr>
          <p:cNvSpPr txBox="1"/>
          <p:nvPr/>
        </p:nvSpPr>
        <p:spPr>
          <a:xfrm>
            <a:off x="621792" y="4892040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600" b="1" dirty="0">
                <a:latin typeface="Calibri"/>
              </a:rPr>
              <a:t>Kristóf</a:t>
            </a:r>
            <a:endParaRPr sz="1600" b="1" dirty="0"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AF326D-5EF8-8F7B-36B6-91D75E6796D2}"/>
              </a:ext>
            </a:extLst>
          </p:cNvPr>
          <p:cNvSpPr txBox="1"/>
          <p:nvPr/>
        </p:nvSpPr>
        <p:spPr>
          <a:xfrm>
            <a:off x="1508760" y="4864608"/>
            <a:ext cx="25869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Avalonia</a:t>
            </a:r>
            <a:r>
              <a:rPr lang="hu-HU" sz="2000" b="1" dirty="0">
                <a:solidFill>
                  <a:srgbClr val="FFFFFF"/>
                </a:solidFill>
                <a:latin typeface="Calibri"/>
              </a:rPr>
              <a:t> Android App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49648E-D54E-2476-48F9-FC2708E6C44F}"/>
              </a:ext>
            </a:extLst>
          </p:cNvPr>
          <p:cNvSpPr txBox="1"/>
          <p:nvPr/>
        </p:nvSpPr>
        <p:spPr>
          <a:xfrm>
            <a:off x="658368" y="532180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B9BBBE"/>
                </a:solidFill>
              </a:rPr>
              <a:t>Mobile administration application with the same functions as on the website</a:t>
            </a:r>
            <a:r>
              <a:rPr lang="hu-HU" sz="1600" dirty="0">
                <a:solidFill>
                  <a:srgbClr val="B9BBBE"/>
                </a:solidFill>
              </a:rPr>
              <a:t> </a:t>
            </a:r>
            <a:r>
              <a:rPr lang="hu-HU" sz="1600" dirty="0" err="1">
                <a:solidFill>
                  <a:srgbClr val="B9BBBE"/>
                </a:solidFill>
              </a:rPr>
              <a:t>for</a:t>
            </a:r>
            <a:r>
              <a:rPr lang="hu-HU" sz="1600" dirty="0">
                <a:solidFill>
                  <a:srgbClr val="B9BBBE"/>
                </a:solidFill>
              </a:rPr>
              <a:t> </a:t>
            </a:r>
            <a:r>
              <a:rPr lang="hu-HU" sz="1600" dirty="0" err="1">
                <a:solidFill>
                  <a:srgbClr val="B9BBBE"/>
                </a:solidFill>
              </a:rPr>
              <a:t>android</a:t>
            </a:r>
            <a:r>
              <a:rPr lang="hu-HU" sz="1600" dirty="0">
                <a:solidFill>
                  <a:srgbClr val="B9BBBE"/>
                </a:solidFill>
              </a:rPr>
              <a:t>.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E49D8296-8EB0-2AFF-CE77-0BEE70B817CF}"/>
              </a:ext>
            </a:extLst>
          </p:cNvPr>
          <p:cNvSpPr/>
          <p:nvPr/>
        </p:nvSpPr>
        <p:spPr>
          <a:xfrm>
            <a:off x="6217920" y="4754880"/>
            <a:ext cx="5486400" cy="15087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7662999-1DEC-11B8-855C-831A648717F1}"/>
              </a:ext>
            </a:extLst>
          </p:cNvPr>
          <p:cNvSpPr/>
          <p:nvPr/>
        </p:nvSpPr>
        <p:spPr>
          <a:xfrm>
            <a:off x="6217920" y="4919472"/>
            <a:ext cx="54864" cy="1188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E6324EB-3F6B-58C2-32E0-C16DA7D1D871}"/>
              </a:ext>
            </a:extLst>
          </p:cNvPr>
          <p:cNvSpPr/>
          <p:nvPr/>
        </p:nvSpPr>
        <p:spPr>
          <a:xfrm>
            <a:off x="6382512" y="4892040"/>
            <a:ext cx="777240" cy="320040"/>
          </a:xfrm>
          <a:prstGeom prst="roundRect">
            <a:avLst>
              <a:gd name="adj" fmla="val 5000"/>
            </a:avLst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860BBA-7491-D017-02A4-C7034C76D637}"/>
              </a:ext>
            </a:extLst>
          </p:cNvPr>
          <p:cNvSpPr txBox="1"/>
          <p:nvPr/>
        </p:nvSpPr>
        <p:spPr>
          <a:xfrm>
            <a:off x="6382512" y="4892040"/>
            <a:ext cx="777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sz="1600" b="1" dirty="0">
                <a:latin typeface="Calibri"/>
              </a:rPr>
              <a:t>Kristóf</a:t>
            </a:r>
            <a:endParaRPr sz="1600" b="1" dirty="0">
              <a:latin typeface="Calibri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1C9FCE-2BF7-3988-17DD-12379C30C9A9}"/>
              </a:ext>
            </a:extLst>
          </p:cNvPr>
          <p:cNvSpPr txBox="1"/>
          <p:nvPr/>
        </p:nvSpPr>
        <p:spPr>
          <a:xfrm>
            <a:off x="7269479" y="4864608"/>
            <a:ext cx="29535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000" b="1" dirty="0">
                <a:solidFill>
                  <a:srgbClr val="FFFFFF"/>
                </a:solidFill>
                <a:latin typeface="Calibri"/>
              </a:rPr>
              <a:t>WPF </a:t>
            </a:r>
            <a:r>
              <a:rPr lang="hu-HU" sz="2000" b="1" dirty="0" err="1">
                <a:solidFill>
                  <a:srgbClr val="FFFFFF"/>
                </a:solidFill>
                <a:latin typeface="Calibri"/>
              </a:rPr>
              <a:t>Administrator</a:t>
            </a:r>
            <a:r>
              <a:rPr lang="hu-HU" sz="2000" b="1" dirty="0">
                <a:solidFill>
                  <a:srgbClr val="FFFFFF"/>
                </a:solidFill>
                <a:latin typeface="Calibri"/>
              </a:rPr>
              <a:t> App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532862-026A-6E45-C56E-1BFEA7AD54FC}"/>
              </a:ext>
            </a:extLst>
          </p:cNvPr>
          <p:cNvSpPr txBox="1"/>
          <p:nvPr/>
        </p:nvSpPr>
        <p:spPr>
          <a:xfrm>
            <a:off x="6419088" y="5321808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600" dirty="0" err="1">
                <a:solidFill>
                  <a:srgbClr val="B9BBBE"/>
                </a:solidFill>
              </a:rPr>
              <a:t>Desktop</a:t>
            </a:r>
            <a:r>
              <a:rPr lang="en-US" sz="1600" dirty="0">
                <a:solidFill>
                  <a:srgbClr val="B9BBBE"/>
                </a:solidFill>
              </a:rPr>
              <a:t> administration application with the same functions as on the website</a:t>
            </a:r>
            <a:r>
              <a:rPr lang="hu-HU" sz="1600" dirty="0">
                <a:solidFill>
                  <a:srgbClr val="B9BBBE"/>
                </a:solidFill>
              </a:rPr>
              <a:t> </a:t>
            </a:r>
            <a:r>
              <a:rPr lang="hu-HU" sz="1600" dirty="0" err="1">
                <a:solidFill>
                  <a:srgbClr val="B9BBBE"/>
                </a:solidFill>
              </a:rPr>
              <a:t>for</a:t>
            </a:r>
            <a:r>
              <a:rPr lang="hu-HU" sz="1600" dirty="0">
                <a:solidFill>
                  <a:srgbClr val="B9BBBE"/>
                </a:solidFill>
              </a:rPr>
              <a:t> </a:t>
            </a:r>
            <a:r>
              <a:rPr lang="hu-HU" sz="1600" dirty="0" err="1">
                <a:solidFill>
                  <a:srgbClr val="B9BBBE"/>
                </a:solidFill>
              </a:rPr>
              <a:t>windows</a:t>
            </a:r>
            <a:r>
              <a:rPr lang="hu-HU" sz="1600" dirty="0">
                <a:solidFill>
                  <a:srgbClr val="B9BBBE"/>
                </a:solidFill>
              </a:rPr>
              <a:t>.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4521FD-D14B-1863-E20F-E6643EF1AF5F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25216003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Weboldal — notrox.hu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99FF99"/>
                </a:solidFill>
                <a:latin typeface="Calibri"/>
              </a:rPr>
              <a:t>Vásárlói</a:t>
            </a:r>
            <a:r>
              <a:rPr b="0" dirty="0">
                <a:solidFill>
                  <a:srgbClr val="99FF99"/>
                </a:solidFill>
                <a:latin typeface="Calibri"/>
              </a:rPr>
              <a:t> frontend — HTML5 / CSS3 / Bootstrap 5.3 / JavaScript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9FF99"/>
                </a:solidFill>
                <a:latin typeface="Calibri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Főoldal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51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B9BBBE"/>
                </a:solidFill>
                <a:latin typeface="Calibri"/>
              </a:rPr>
              <a:t>Termékkatégoriák</a:t>
            </a:r>
            <a:r>
              <a:rPr b="0" dirty="0">
                <a:solidFill>
                  <a:srgbClr val="B9BBBE"/>
                </a:solidFill>
                <a:latin typeface="Calibri"/>
              </a:rPr>
              <a:t>,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értékajánlatok</a:t>
            </a:r>
            <a:r>
              <a:rPr b="0" dirty="0">
                <a:solidFill>
                  <a:srgbClr val="B9BBBE"/>
                </a:solidFill>
                <a:latin typeface="Calibri"/>
              </a:rPr>
              <a:t>, CTA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gomb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37160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9FF99"/>
                </a:solidFill>
                <a:latin typeface="Calibri"/>
              </a:rPr>
              <a:t>/register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Regisztráció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40280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Fiók létrehozása, ÁSZF elfogadás, validáció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FF99"/>
                </a:solidFill>
                <a:latin typeface="Calibri"/>
              </a:rPr>
              <a:t>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2880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Bejelentkezés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40280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JWT token generálás, sessionStorage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37160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37160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35440" y="141732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FF99"/>
                </a:solidFill>
                <a:latin typeface="Calibri"/>
              </a:rPr>
              <a:t>/products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2880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Termékek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40280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Szűrés, keresés, márka filter, kosárba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4048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84048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88620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9FF99"/>
                </a:solidFill>
                <a:latin typeface="Calibri"/>
              </a:rPr>
              <a:t>/cart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9768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Kosár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709160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Mennyiség kezelés, ÁFA számítás, rendelés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84048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91840" y="384048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0" y="388620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9FF99"/>
                </a:solidFill>
                <a:latin typeface="Calibri"/>
              </a:rPr>
              <a:t>/</a:t>
            </a:r>
            <a:r>
              <a:rPr sz="1400" b="1" dirty="0" err="1">
                <a:solidFill>
                  <a:srgbClr val="99FF99"/>
                </a:solidFill>
                <a:latin typeface="Calibri"/>
              </a:rPr>
              <a:t>profil</a:t>
            </a:r>
            <a:endParaRPr sz="1400" b="1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83280" y="429768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Profil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709160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Adatok, profilkép, jelszó, cím kezelés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84048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17920" y="384048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388620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9FF99"/>
                </a:solidFill>
                <a:latin typeface="Calibri"/>
              </a:rPr>
              <a:t>/recentorders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29768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Rendelések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709160"/>
            <a:ext cx="251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Előzmények, állapotkövetés, PDF számla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840480"/>
            <a:ext cx="2697480" cy="22402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144000" y="3840480"/>
            <a:ext cx="2697480" cy="384048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35440" y="3886200"/>
            <a:ext cx="2514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9FF99"/>
                </a:solidFill>
                <a:latin typeface="Calibri"/>
              </a:rPr>
              <a:t>/</a:t>
            </a:r>
            <a:r>
              <a:rPr sz="1400" b="1" dirty="0" err="1">
                <a:solidFill>
                  <a:srgbClr val="99FF99"/>
                </a:solidFill>
                <a:latin typeface="Calibri"/>
              </a:rPr>
              <a:t>aboutus</a:t>
            </a:r>
            <a:r>
              <a:rPr sz="1400" b="1" dirty="0">
                <a:solidFill>
                  <a:srgbClr val="99FF99"/>
                </a:solidFill>
                <a:latin typeface="Calibri"/>
              </a:rPr>
              <a:t> + /contact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297680"/>
            <a:ext cx="2514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Info oldalak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709160"/>
            <a:ext cx="25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Rólunk, kapcsolat, Google Maps térkép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Regisztráció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JWT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alapú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azonosítás</a:t>
            </a:r>
            <a:r>
              <a:rPr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sessionStorage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munkamenet-kezelés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362450" cy="5029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36245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0744"/>
            <a:ext cx="4179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📝 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Regisztráció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0080" y="1920240"/>
            <a:ext cx="320040" cy="32004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93852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B9BBBE"/>
                </a:solidFill>
                <a:latin typeface="Calibri"/>
              </a:rPr>
              <a:t>Felhasználónév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megadása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kötelező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14600"/>
            <a:ext cx="320040" cy="32004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3288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E-mail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cím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(@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kötelező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egyedi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12724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B9BBBE"/>
                </a:solidFill>
                <a:latin typeface="Calibri"/>
              </a:rPr>
              <a:t>Jelszó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(min. 8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karakter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72160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ÁSZF elfogadása (jelölőnégyzet)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297680"/>
            <a:ext cx="320040" cy="32004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31596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Ha minden mező üres → gomb inaktív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892040"/>
            <a:ext cx="320040" cy="32004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10327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Ha e-mail már létezik → hibaüzenet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486400"/>
            <a:ext cx="320040" cy="32004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320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550468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Sikeres regisztráció → bejelentkezési oldal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Kép 56">
            <a:extLst>
              <a:ext uri="{FF2B5EF4-FFF2-40B4-BE49-F238E27FC236}">
                <a16:creationId xmlns:a16="http://schemas.microsoft.com/office/drawing/2014/main" id="{FFF450C3-BFCF-88E9-868D-569BDFADF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046" y="431666"/>
            <a:ext cx="4686954" cy="60682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C0A87-942C-B2FC-D7F0-4F758A47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FE0C98-8DE6-10C4-ED32-63698C779950}"/>
              </a:ext>
            </a:extLst>
          </p:cNvPr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5AF08-2223-C3C0-26C9-8D4151E3282C}"/>
              </a:ext>
            </a:extLst>
          </p:cNvPr>
          <p:cNvSpPr txBox="1"/>
          <p:nvPr/>
        </p:nvSpPr>
        <p:spPr>
          <a:xfrm>
            <a:off x="457200" y="22860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Bejelentkezés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876FD-1E49-5555-398C-ACDF83EEB6AF}"/>
              </a:ext>
            </a:extLst>
          </p:cNvPr>
          <p:cNvSpPr txBox="1"/>
          <p:nvPr/>
        </p:nvSpPr>
        <p:spPr>
          <a:xfrm>
            <a:off x="457200" y="740664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JWT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alapú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azonosítás</a:t>
            </a:r>
            <a:r>
              <a:rPr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sessionStorage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munkamenet-kezelés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DE8B472-861B-0EB6-DBC8-67FF2D3C4DCA}"/>
              </a:ext>
            </a:extLst>
          </p:cNvPr>
          <p:cNvSpPr/>
          <p:nvPr/>
        </p:nvSpPr>
        <p:spPr>
          <a:xfrm>
            <a:off x="548640" y="1271016"/>
            <a:ext cx="4883658" cy="5029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77D343-F227-BEDB-93DD-321026E3513D}"/>
              </a:ext>
            </a:extLst>
          </p:cNvPr>
          <p:cNvSpPr/>
          <p:nvPr/>
        </p:nvSpPr>
        <p:spPr>
          <a:xfrm>
            <a:off x="548640" y="1271016"/>
            <a:ext cx="4883658" cy="45720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0A97D8-02D7-98AF-455A-E0A5EA430334}"/>
              </a:ext>
            </a:extLst>
          </p:cNvPr>
          <p:cNvSpPr txBox="1"/>
          <p:nvPr/>
        </p:nvSpPr>
        <p:spPr>
          <a:xfrm>
            <a:off x="731520" y="132588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🔑  </a:t>
            </a:r>
            <a:r>
              <a:rPr b="1" dirty="0" err="1">
                <a:latin typeface="Calibri"/>
              </a:rPr>
              <a:t>Bejelentkezés</a:t>
            </a:r>
            <a:endParaRPr b="1" dirty="0">
              <a:latin typeface="Calibr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FCFA947-3DE3-8E61-08B3-17E075EA3B0B}"/>
              </a:ext>
            </a:extLst>
          </p:cNvPr>
          <p:cNvSpPr/>
          <p:nvPr/>
        </p:nvSpPr>
        <p:spPr>
          <a:xfrm>
            <a:off x="731520" y="1865376"/>
            <a:ext cx="320040" cy="320040"/>
          </a:xfrm>
          <a:prstGeom prst="ellipse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0190A7-85A2-8625-DAC8-E29177232E72}"/>
              </a:ext>
            </a:extLst>
          </p:cNvPr>
          <p:cNvSpPr txBox="1"/>
          <p:nvPr/>
        </p:nvSpPr>
        <p:spPr>
          <a:xfrm>
            <a:off x="731520" y="1865376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3272A"/>
                </a:solidFill>
                <a:latin typeface="Calibri"/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DDD26A-90B0-0FAF-026D-6CD60D88BD68}"/>
              </a:ext>
            </a:extLst>
          </p:cNvPr>
          <p:cNvSpPr txBox="1"/>
          <p:nvPr/>
        </p:nvSpPr>
        <p:spPr>
          <a:xfrm>
            <a:off x="1065657" y="183603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B9BBBE"/>
                </a:solidFill>
                <a:latin typeface="Calibri"/>
              </a:rPr>
              <a:t>Felhasználónév</a:t>
            </a:r>
            <a:r>
              <a:rPr sz="2000" b="0" dirty="0">
                <a:solidFill>
                  <a:srgbClr val="B9BBBE"/>
                </a:solidFill>
                <a:latin typeface="Calibri"/>
              </a:rPr>
              <a:t> + </a:t>
            </a:r>
            <a:r>
              <a:rPr sz="2000" b="0" dirty="0" err="1">
                <a:solidFill>
                  <a:srgbClr val="B9BBBE"/>
                </a:solidFill>
                <a:latin typeface="Calibri"/>
              </a:rPr>
              <a:t>jelszó</a:t>
            </a:r>
            <a:r>
              <a:rPr sz="20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B9BBBE"/>
                </a:solidFill>
                <a:latin typeface="Calibri"/>
              </a:rPr>
              <a:t>megadása</a:t>
            </a:r>
            <a:endParaRPr sz="20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BFA47A4-9D6D-5681-A256-05D2429F430A}"/>
              </a:ext>
            </a:extLst>
          </p:cNvPr>
          <p:cNvSpPr/>
          <p:nvPr/>
        </p:nvSpPr>
        <p:spPr>
          <a:xfrm>
            <a:off x="731520" y="2459736"/>
            <a:ext cx="320040" cy="320040"/>
          </a:xfrm>
          <a:prstGeom prst="ellipse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3E1983-9CB9-6E22-996F-3DF7CBBA8612}"/>
              </a:ext>
            </a:extLst>
          </p:cNvPr>
          <p:cNvSpPr txBox="1"/>
          <p:nvPr/>
        </p:nvSpPr>
        <p:spPr>
          <a:xfrm>
            <a:off x="731520" y="2459736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72A"/>
                </a:solidFill>
                <a:latin typeface="Calibri"/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4AD669-F65B-8CE4-9110-EEEF8A73B094}"/>
              </a:ext>
            </a:extLst>
          </p:cNvPr>
          <p:cNvSpPr txBox="1"/>
          <p:nvPr/>
        </p:nvSpPr>
        <p:spPr>
          <a:xfrm>
            <a:off x="1065657" y="243039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9BBBE"/>
                </a:solidFill>
                <a:latin typeface="Calibri"/>
              </a:rPr>
              <a:t>Szerver ellenőrzi az adatokat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6759FB6-ECA1-EB27-E297-1673BC463ECD}"/>
              </a:ext>
            </a:extLst>
          </p:cNvPr>
          <p:cNvSpPr/>
          <p:nvPr/>
        </p:nvSpPr>
        <p:spPr>
          <a:xfrm>
            <a:off x="731520" y="3054096"/>
            <a:ext cx="320040" cy="320040"/>
          </a:xfrm>
          <a:prstGeom prst="ellipse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0CEBDD-E6F2-A618-7115-579D7EDC0618}"/>
              </a:ext>
            </a:extLst>
          </p:cNvPr>
          <p:cNvSpPr txBox="1"/>
          <p:nvPr/>
        </p:nvSpPr>
        <p:spPr>
          <a:xfrm>
            <a:off x="731520" y="3054096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72A"/>
                </a:solidFill>
                <a:latin typeface="Calibri"/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DE8EA2-B22D-C24C-3DD3-6C6EF05B2A48}"/>
              </a:ext>
            </a:extLst>
          </p:cNvPr>
          <p:cNvSpPr txBox="1"/>
          <p:nvPr/>
        </p:nvSpPr>
        <p:spPr>
          <a:xfrm>
            <a:off x="1065657" y="302475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9BBBE"/>
                </a:solidFill>
                <a:latin typeface="Calibri"/>
              </a:rPr>
              <a:t>JWT token generálódik → sessionStorage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B72FB35-DC51-8D73-EE4C-15BF0A1BD1CB}"/>
              </a:ext>
            </a:extLst>
          </p:cNvPr>
          <p:cNvSpPr/>
          <p:nvPr/>
        </p:nvSpPr>
        <p:spPr>
          <a:xfrm>
            <a:off x="731520" y="3648456"/>
            <a:ext cx="320040" cy="320040"/>
          </a:xfrm>
          <a:prstGeom prst="ellipse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A4A2B8-72AF-1411-BD5C-1C72459D2968}"/>
              </a:ext>
            </a:extLst>
          </p:cNvPr>
          <p:cNvSpPr txBox="1"/>
          <p:nvPr/>
        </p:nvSpPr>
        <p:spPr>
          <a:xfrm>
            <a:off x="731520" y="3648456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72A"/>
                </a:solidFill>
                <a:latin typeface="Calibri"/>
              </a:rPr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8A0590-A7A1-7490-ADB8-3AFB889856C0}"/>
              </a:ext>
            </a:extLst>
          </p:cNvPr>
          <p:cNvSpPr txBox="1"/>
          <p:nvPr/>
        </p:nvSpPr>
        <p:spPr>
          <a:xfrm>
            <a:off x="1065657" y="361911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9BBBE"/>
                </a:solidFill>
                <a:latin typeface="Calibri"/>
              </a:rPr>
              <a:t>Az oldal ettől kezdve 'emlékszik' ránk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A548083-23C3-267E-B8F1-C3DBFD64541E}"/>
              </a:ext>
            </a:extLst>
          </p:cNvPr>
          <p:cNvSpPr/>
          <p:nvPr/>
        </p:nvSpPr>
        <p:spPr>
          <a:xfrm>
            <a:off x="731520" y="4242816"/>
            <a:ext cx="320040" cy="320040"/>
          </a:xfrm>
          <a:prstGeom prst="ellipse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601CEF-537D-A7C1-3DEA-47A4BECC3DDC}"/>
              </a:ext>
            </a:extLst>
          </p:cNvPr>
          <p:cNvSpPr txBox="1"/>
          <p:nvPr/>
        </p:nvSpPr>
        <p:spPr>
          <a:xfrm>
            <a:off x="731520" y="4242816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72A"/>
                </a:solidFill>
                <a:latin typeface="Calibri"/>
              </a:rPr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BC501D-F156-8C04-0A81-3C9658ECF754}"/>
              </a:ext>
            </a:extLst>
          </p:cNvPr>
          <p:cNvSpPr txBox="1"/>
          <p:nvPr/>
        </p:nvSpPr>
        <p:spPr>
          <a:xfrm>
            <a:off x="1065657" y="421347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9BBBE"/>
                </a:solidFill>
                <a:latin typeface="Calibri"/>
              </a:rPr>
              <a:t>Védett oldalak: auth-check.js ellenőrzi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9B403DD-AF3F-23A2-9473-0D0F015136D7}"/>
              </a:ext>
            </a:extLst>
          </p:cNvPr>
          <p:cNvSpPr/>
          <p:nvPr/>
        </p:nvSpPr>
        <p:spPr>
          <a:xfrm>
            <a:off x="731520" y="4837176"/>
            <a:ext cx="320040" cy="320040"/>
          </a:xfrm>
          <a:prstGeom prst="ellipse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17BF0B-5F5F-5E1A-1DD1-637ADA5D89FC}"/>
              </a:ext>
            </a:extLst>
          </p:cNvPr>
          <p:cNvSpPr txBox="1"/>
          <p:nvPr/>
        </p:nvSpPr>
        <p:spPr>
          <a:xfrm>
            <a:off x="731520" y="4837176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3272A"/>
                </a:solidFill>
                <a:latin typeface="Calibri"/>
              </a:rPr>
              <a:t>6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5E071D-A74A-36D3-A49E-ADC8E5CD1347}"/>
              </a:ext>
            </a:extLst>
          </p:cNvPr>
          <p:cNvSpPr txBox="1"/>
          <p:nvPr/>
        </p:nvSpPr>
        <p:spPr>
          <a:xfrm>
            <a:off x="1065657" y="480783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9BBBE"/>
                </a:solidFill>
                <a:latin typeface="Calibri"/>
              </a:rPr>
              <a:t>Bejelentkezett user → /profil oldal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A389C7B-5CF0-6454-6108-4C33EAF70E7A}"/>
              </a:ext>
            </a:extLst>
          </p:cNvPr>
          <p:cNvSpPr/>
          <p:nvPr/>
        </p:nvSpPr>
        <p:spPr>
          <a:xfrm>
            <a:off x="731520" y="5431536"/>
            <a:ext cx="320040" cy="320040"/>
          </a:xfrm>
          <a:prstGeom prst="ellipse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EE36C5-E518-A8EA-1D91-19DDC1E3D423}"/>
              </a:ext>
            </a:extLst>
          </p:cNvPr>
          <p:cNvSpPr txBox="1"/>
          <p:nvPr/>
        </p:nvSpPr>
        <p:spPr>
          <a:xfrm>
            <a:off x="731520" y="5431536"/>
            <a:ext cx="320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23272A"/>
                </a:solidFill>
                <a:latin typeface="Calibri"/>
              </a:rPr>
              <a:t>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1EDEA1-0C40-3C01-0C5F-720676555FD9}"/>
              </a:ext>
            </a:extLst>
          </p:cNvPr>
          <p:cNvSpPr txBox="1"/>
          <p:nvPr/>
        </p:nvSpPr>
        <p:spPr>
          <a:xfrm>
            <a:off x="1065657" y="540219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9BBBE"/>
                </a:solidFill>
                <a:latin typeface="Calibri"/>
              </a:rPr>
              <a:t>Kijelentkezés → token törlése → főoldal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31362F-878F-435D-C33C-F4495E5A4A3D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Kép 54">
            <a:extLst>
              <a:ext uri="{FF2B5EF4-FFF2-40B4-BE49-F238E27FC236}">
                <a16:creationId xmlns:a16="http://schemas.microsoft.com/office/drawing/2014/main" id="{79F904E2-ADCC-17E6-368A-FDB902DA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737" y="1437313"/>
            <a:ext cx="5018034" cy="44222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5993307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Termékek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99FF99"/>
                </a:solidFill>
                <a:latin typeface="Calibri"/>
              </a:rPr>
              <a:t>Böngészés</a:t>
            </a:r>
            <a:r>
              <a:rPr b="0" dirty="0">
                <a:solidFill>
                  <a:srgbClr val="99FF99"/>
                </a:solidFill>
                <a:latin typeface="Calibri"/>
              </a:rPr>
              <a:t> →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Szűrés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790950" cy="5029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79095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0744"/>
            <a:ext cx="3989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🛍️ 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Termékek</a:t>
            </a:r>
            <a:r>
              <a:rPr b="1" dirty="0">
                <a:solidFill>
                  <a:srgbClr val="FFFFFF"/>
                </a:solidFill>
                <a:latin typeface="Calibri"/>
              </a:rPr>
              <a:t> (/products)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" y="192024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Márka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szűrő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(SteelSeries, Logitech...)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" y="25146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Névkeresés valós időben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625" y="31089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Ár alapú szűrés (0 – 8.000.000 Ft)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370332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Termék kártya: kép, név, gyártó, ár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" y="42976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'Elfogadott' badge ha raktáron van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625" y="489204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Kosárba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gomb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→ toast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visszajelzés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8625" y="54864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Kosár ikon számlálóval a navigációban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id="{96C58A61-B635-9822-02ED-21BEC8119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030" y="1403080"/>
            <a:ext cx="3790950" cy="4869338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68F037A0-043A-5E96-28BD-E3F4985FE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859" y="1403079"/>
            <a:ext cx="3502685" cy="486933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57FBB-97BE-C59A-9FE0-D2027E7D1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EC622-B11B-E567-4422-174D29BD4E22}"/>
              </a:ext>
            </a:extLst>
          </p:cNvPr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7CBA3-8CCF-E791-578B-9E2388FF6C3A}"/>
              </a:ext>
            </a:extLst>
          </p:cNvPr>
          <p:cNvSpPr txBox="1"/>
          <p:nvPr/>
        </p:nvSpPr>
        <p:spPr>
          <a:xfrm>
            <a:off x="457200" y="22860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>
                <a:solidFill>
                  <a:srgbClr val="FFFFFF"/>
                </a:solidFill>
                <a:latin typeface="Calibri"/>
              </a:rPr>
              <a:t>Kosár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BB02F-BBEB-F9EC-17B3-98496C913268}"/>
              </a:ext>
            </a:extLst>
          </p:cNvPr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Kosár →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Fizetés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2D61F9-CDEA-4EE9-252B-E111CE626377}"/>
              </a:ext>
            </a:extLst>
          </p:cNvPr>
          <p:cNvSpPr/>
          <p:nvPr/>
        </p:nvSpPr>
        <p:spPr>
          <a:xfrm>
            <a:off x="457200" y="1344168"/>
            <a:ext cx="3974973" cy="5029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21FE5-20F4-6CBF-E413-B5AE918F36F9}"/>
              </a:ext>
            </a:extLst>
          </p:cNvPr>
          <p:cNvSpPr/>
          <p:nvPr/>
        </p:nvSpPr>
        <p:spPr>
          <a:xfrm>
            <a:off x="457200" y="1344168"/>
            <a:ext cx="3974973" cy="457200"/>
          </a:xfrm>
          <a:prstGeom prst="rect">
            <a:avLst/>
          </a:prstGeom>
          <a:solidFill>
            <a:srgbClr val="FEE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883B17-A545-63E7-AC89-D6124EB4B91B}"/>
              </a:ext>
            </a:extLst>
          </p:cNvPr>
          <p:cNvSpPr txBox="1"/>
          <p:nvPr/>
        </p:nvSpPr>
        <p:spPr>
          <a:xfrm>
            <a:off x="640080" y="1399032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23272A"/>
                </a:solidFill>
                <a:latin typeface="Calibri"/>
              </a:rPr>
              <a:t>🛒  Kosár (/cart)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61853-BDF7-0819-23D1-13169520EA59}"/>
              </a:ext>
            </a:extLst>
          </p:cNvPr>
          <p:cNvSpPr txBox="1"/>
          <p:nvPr/>
        </p:nvSpPr>
        <p:spPr>
          <a:xfrm>
            <a:off x="685800" y="193852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localStorage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tárolja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(cart_{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userId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})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026E9-12B5-82BD-B23D-D701F46C9735}"/>
              </a:ext>
            </a:extLst>
          </p:cNvPr>
          <p:cNvSpPr txBox="1"/>
          <p:nvPr/>
        </p:nvSpPr>
        <p:spPr>
          <a:xfrm>
            <a:off x="685800" y="253288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Bezárás után is megmarad a kosár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451190-DB78-2977-13E8-02FCD2F13443}"/>
              </a:ext>
            </a:extLst>
          </p:cNvPr>
          <p:cNvSpPr txBox="1"/>
          <p:nvPr/>
        </p:nvSpPr>
        <p:spPr>
          <a:xfrm>
            <a:off x="685800" y="312724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+ / – gombokkal mennyiség állítás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7FD6CB-56D3-F3E2-5BDD-8248F467FE3D}"/>
              </a:ext>
            </a:extLst>
          </p:cNvPr>
          <p:cNvSpPr txBox="1"/>
          <p:nvPr/>
        </p:nvSpPr>
        <p:spPr>
          <a:xfrm>
            <a:off x="685800" y="372160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0 db → termék automatikusan törlődik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205321-DD8C-89FA-46CD-1F9A0FCF5BF7}"/>
              </a:ext>
            </a:extLst>
          </p:cNvPr>
          <p:cNvSpPr txBox="1"/>
          <p:nvPr/>
        </p:nvSpPr>
        <p:spPr>
          <a:xfrm>
            <a:off x="685800" y="431596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× gombbal manuális törlés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01517A-3219-F955-BBA5-1C9CA247B4E7}"/>
              </a:ext>
            </a:extLst>
          </p:cNvPr>
          <p:cNvSpPr txBox="1"/>
          <p:nvPr/>
        </p:nvSpPr>
        <p:spPr>
          <a:xfrm>
            <a:off x="685800" y="491032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Bruttó / Nettó / ÁFA (27%) összesítő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374F78-69CD-F76D-CBF2-AB4CACD43680}"/>
              </a:ext>
            </a:extLst>
          </p:cNvPr>
          <p:cNvSpPr txBox="1"/>
          <p:nvPr/>
        </p:nvSpPr>
        <p:spPr>
          <a:xfrm>
            <a:off x="685800" y="550468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▸  Max.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készlet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ellenőrzés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alert-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tel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26A736-1D2D-14E4-45B8-22F1FFCE119F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91312F0F-9C82-D929-23AA-F695D81BB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332" y="945313"/>
            <a:ext cx="7497221" cy="1314633"/>
          </a:xfrm>
          <a:prstGeom prst="rect">
            <a:avLst/>
          </a:prstGeom>
        </p:spPr>
      </p:pic>
      <p:pic>
        <p:nvPicPr>
          <p:cNvPr id="31" name="Kép 30">
            <a:extLst>
              <a:ext uri="{FF2B5EF4-FFF2-40B4-BE49-F238E27FC236}">
                <a16:creationId xmlns:a16="http://schemas.microsoft.com/office/drawing/2014/main" id="{6DF73561-FC4F-60B9-83A0-01C5FBB1B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581" y="2314810"/>
            <a:ext cx="3953141" cy="2276629"/>
          </a:xfrm>
          <a:prstGeom prst="rect">
            <a:avLst/>
          </a:prstGeom>
        </p:spPr>
      </p:pic>
      <p:pic>
        <p:nvPicPr>
          <p:cNvPr id="33" name="Kép 32">
            <a:extLst>
              <a:ext uri="{FF2B5EF4-FFF2-40B4-BE49-F238E27FC236}">
                <a16:creationId xmlns:a16="http://schemas.microsoft.com/office/drawing/2014/main" id="{203D34D5-0820-8B95-7FC9-3026368D9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0969" y="2301517"/>
            <a:ext cx="3467584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92007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Rendelés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99FF99"/>
                </a:solidFill>
                <a:latin typeface="Calibri"/>
              </a:rPr>
              <a:t>Biztonságos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vásárlás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876675" cy="5248656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3876675" cy="45720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0744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latin typeface="Calibri"/>
              </a:rPr>
              <a:t>💳  </a:t>
            </a:r>
            <a:r>
              <a:rPr b="1" dirty="0" err="1">
                <a:latin typeface="Calibri"/>
              </a:rPr>
              <a:t>Rendelés</a:t>
            </a:r>
            <a:r>
              <a:rPr b="1" dirty="0">
                <a:latin typeface="Calibri"/>
              </a:rPr>
              <a:t> </a:t>
            </a:r>
            <a:r>
              <a:rPr b="1" dirty="0" err="1">
                <a:latin typeface="Calibri"/>
              </a:rPr>
              <a:t>Leadása</a:t>
            </a:r>
            <a:endParaRPr b="1" dirty="0"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Bejelentkezés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szükséges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Szállítási cím kötelező (figyelmeztetés)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80944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Bankkártya: kártyabirtokos neve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1129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16 jegyű kártyaszám (auto formázás)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4164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Lejárat MM/ÉÉ (01-12 validáció)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CVV/CVC 3 számjegy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0235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Sikeres rendelés → /success oldal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32704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Kosár törlődik a localStorage-ból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6305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PDF számla letölthető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993F9E39-8CBC-37E6-06D2-3E835B1B8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482" y="279650"/>
            <a:ext cx="6552795" cy="632384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ADCDE-E882-9F0D-B741-32BE5ACC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66EC34-4B5B-8106-EC83-8DDB05D9DB8A}"/>
              </a:ext>
            </a:extLst>
          </p:cNvPr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83382-A3B4-66C8-9C6F-5B4884C64520}"/>
              </a:ext>
            </a:extLst>
          </p:cNvPr>
          <p:cNvSpPr txBox="1"/>
          <p:nvPr/>
        </p:nvSpPr>
        <p:spPr>
          <a:xfrm>
            <a:off x="457200" y="22860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Profil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3F31E8-EAB1-F0A9-6210-25D455D63A15}"/>
              </a:ext>
            </a:extLst>
          </p:cNvPr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dirty="0">
                <a:solidFill>
                  <a:srgbClr val="99FF99"/>
                </a:solidFill>
                <a:latin typeface="Calibri"/>
              </a:rPr>
              <a:t>S</a:t>
            </a:r>
            <a:r>
              <a:rPr lang="hu-HU" b="0" dirty="0">
                <a:solidFill>
                  <a:srgbClr val="99FF99"/>
                </a:solidFill>
                <a:latin typeface="Calibri"/>
              </a:rPr>
              <a:t>zemélyes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fiókkezelés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24F5C8E-0C08-AD00-DDA4-7BA1CAA14BD2}"/>
              </a:ext>
            </a:extLst>
          </p:cNvPr>
          <p:cNvSpPr/>
          <p:nvPr/>
        </p:nvSpPr>
        <p:spPr>
          <a:xfrm>
            <a:off x="457200" y="1307592"/>
            <a:ext cx="4019550" cy="5245608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B04FD3-52E3-1CD6-20F1-41D159C0AE4B}"/>
              </a:ext>
            </a:extLst>
          </p:cNvPr>
          <p:cNvSpPr/>
          <p:nvPr/>
        </p:nvSpPr>
        <p:spPr>
          <a:xfrm>
            <a:off x="457200" y="1307592"/>
            <a:ext cx="401955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FFE5A6-1AA7-630F-1745-48E776299D47}"/>
              </a:ext>
            </a:extLst>
          </p:cNvPr>
          <p:cNvSpPr txBox="1"/>
          <p:nvPr/>
        </p:nvSpPr>
        <p:spPr>
          <a:xfrm>
            <a:off x="640080" y="1362456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👤 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Profil</a:t>
            </a:r>
            <a:r>
              <a:rPr b="1" dirty="0">
                <a:solidFill>
                  <a:srgbClr val="FFFFFF"/>
                </a:solidFill>
                <a:latin typeface="Calibri"/>
              </a:rPr>
              <a:t> (/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profil</a:t>
            </a:r>
            <a:r>
              <a:rPr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4CA9DB-C775-B2A5-34E3-37FF56C6C0FF}"/>
              </a:ext>
            </a:extLst>
          </p:cNvPr>
          <p:cNvSpPr txBox="1"/>
          <p:nvPr/>
        </p:nvSpPr>
        <p:spPr>
          <a:xfrm>
            <a:off x="685800" y="190195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Felhasználónév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e-mail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szerkesztés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142F2B-1532-D905-1183-951D90CD38F6}"/>
              </a:ext>
            </a:extLst>
          </p:cNvPr>
          <p:cNvSpPr txBox="1"/>
          <p:nvPr/>
        </p:nvSpPr>
        <p:spPr>
          <a:xfrm>
            <a:off x="685800" y="2432304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Mentés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pipa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ikonnal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45828E-4DBC-30AB-8742-0CB9F48A9AAF}"/>
              </a:ext>
            </a:extLst>
          </p:cNvPr>
          <p:cNvSpPr txBox="1"/>
          <p:nvPr/>
        </p:nvSpPr>
        <p:spPr>
          <a:xfrm>
            <a:off x="685800" y="296265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Jelszócsere: jelenlegi + új jelszó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6C0505-C3FC-5C0D-62C9-B20427A55CA4}"/>
              </a:ext>
            </a:extLst>
          </p:cNvPr>
          <p:cNvSpPr txBox="1"/>
          <p:nvPr/>
        </p:nvSpPr>
        <p:spPr>
          <a:xfrm>
            <a:off x="685800" y="349300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Profilkép feltöltés (JPG, JPEG, PNG)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0FA69-A5C5-384E-354A-A2D61101C76B}"/>
              </a:ext>
            </a:extLst>
          </p:cNvPr>
          <p:cNvSpPr txBox="1"/>
          <p:nvPr/>
        </p:nvSpPr>
        <p:spPr>
          <a:xfrm>
            <a:off x="685800" y="402336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Multer kezeli a feltöltést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8F96D8-5BAF-6C66-E261-6653AE4B3F69}"/>
              </a:ext>
            </a:extLst>
          </p:cNvPr>
          <p:cNvSpPr txBox="1"/>
          <p:nvPr/>
        </p:nvSpPr>
        <p:spPr>
          <a:xfrm>
            <a:off x="685800" y="4553712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Szállítási cím kezelése (/address)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5BE554-A3E8-1567-A522-C6B62A4E678E}"/>
              </a:ext>
            </a:extLst>
          </p:cNvPr>
          <p:cNvSpPr txBox="1"/>
          <p:nvPr/>
        </p:nvSpPr>
        <p:spPr>
          <a:xfrm>
            <a:off x="685800" y="5084064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Számlázási cím külön kezelhető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9F850C-E648-0909-912E-2E57ACBD3BB1}"/>
              </a:ext>
            </a:extLst>
          </p:cNvPr>
          <p:cNvSpPr txBox="1"/>
          <p:nvPr/>
        </p:nvSpPr>
        <p:spPr>
          <a:xfrm>
            <a:off x="685800" y="5614416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Rendeléstörténet (/recentorders)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03CDF8-4DE3-CE83-7006-8A9605D70830}"/>
              </a:ext>
            </a:extLst>
          </p:cNvPr>
          <p:cNvSpPr txBox="1"/>
          <p:nvPr/>
        </p:nvSpPr>
        <p:spPr>
          <a:xfrm>
            <a:off x="685800" y="6144768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6 rendelési állapot nyomon követhető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B1C78A-E994-CEEC-13D9-DD4F77AA6456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Kép 30">
            <a:extLst>
              <a:ext uri="{FF2B5EF4-FFF2-40B4-BE49-F238E27FC236}">
                <a16:creationId xmlns:a16="http://schemas.microsoft.com/office/drawing/2014/main" id="{556B1D39-90A7-BDB5-383A-39345142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490" y="786158"/>
            <a:ext cx="7405569" cy="584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59988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Calibri"/>
              </a:rPr>
              <a:t>Webes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Adminisztrációs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Felület</a:t>
            </a:r>
            <a:r>
              <a:rPr lang="hu-HU" sz="3200" b="1" dirty="0">
                <a:solidFill>
                  <a:srgbClr val="FFFFFF"/>
                </a:solidFill>
                <a:latin typeface="Calibri"/>
              </a:rPr>
              <a:t> Bejelentkezés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notrox.hu/admin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isAdmin</a:t>
            </a:r>
            <a:r>
              <a:rPr b="0" dirty="0">
                <a:solidFill>
                  <a:srgbClr val="99FF99"/>
                </a:solidFill>
                <a:latin typeface="Calibri"/>
              </a:rPr>
              <a:t>: true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jogkör</a:t>
            </a:r>
            <a:r>
              <a:rPr b="0" dirty="0">
                <a:solidFill>
                  <a:srgbClr val="99FF99"/>
                </a:solidFill>
                <a:latin typeface="Calibri"/>
              </a:rPr>
              <a:t> + JWT +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sessionStorage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24231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97346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🔑  Admin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Bejelentkezés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Csak /admin útvonalon érhető 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9424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isAdmin = true szükséges az adatbázisban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24327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JWT token → sessionStorage tárolja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99232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authcheck.js védi az összes admin oldalt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74135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▸  LOGOUT → token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törlés</a:t>
            </a:r>
            <a:r>
              <a:rPr b="0" dirty="0">
                <a:solidFill>
                  <a:srgbClr val="B9BBBE"/>
                </a:solidFill>
                <a:latin typeface="Calibri"/>
              </a:rPr>
              <a:t> →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átirányítás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1F75C325-2D82-0589-5312-381FF91ED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325" y="1868946"/>
            <a:ext cx="4493755" cy="347681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0588D-F207-F94D-D808-C512C43E2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EEB3B5-AF96-4771-0A13-72F75BE78B1D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D218CA-7C5F-79BF-A570-C14441F6A240}"/>
              </a:ext>
            </a:extLst>
          </p:cNvPr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Calibri"/>
              </a:rPr>
              <a:t>Webes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Adminisztrációs</a:t>
            </a:r>
            <a:r>
              <a:rPr sz="3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200" b="1" dirty="0" err="1">
                <a:solidFill>
                  <a:srgbClr val="FFFFFF"/>
                </a:solidFill>
                <a:latin typeface="Calibri"/>
              </a:rPr>
              <a:t>Felület</a:t>
            </a:r>
            <a:r>
              <a:rPr lang="hu-HU" sz="3200" b="1" dirty="0">
                <a:solidFill>
                  <a:srgbClr val="FFFFFF"/>
                </a:solidFill>
                <a:latin typeface="Calibri"/>
              </a:rPr>
              <a:t> felhasználók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1E50C-39E4-F7DE-E7B0-4841E155E4B6}"/>
              </a:ext>
            </a:extLst>
          </p:cNvPr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notrox.hu/admin</a:t>
            </a:r>
            <a:r>
              <a:rPr lang="hu-HU" b="0" dirty="0">
                <a:solidFill>
                  <a:srgbClr val="99FF99"/>
                </a:solidFill>
                <a:latin typeface="Calibri"/>
              </a:rPr>
              <a:t>panel</a:t>
            </a:r>
            <a:r>
              <a:rPr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isAdmin</a:t>
            </a:r>
            <a:r>
              <a:rPr b="0" dirty="0">
                <a:solidFill>
                  <a:srgbClr val="99FF99"/>
                </a:solidFill>
                <a:latin typeface="Calibri"/>
              </a:rPr>
              <a:t>: true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jogkör</a:t>
            </a:r>
            <a:r>
              <a:rPr b="0" dirty="0">
                <a:solidFill>
                  <a:srgbClr val="99FF99"/>
                </a:solidFill>
                <a:latin typeface="Calibri"/>
              </a:rPr>
              <a:t> + JWT +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sessionStorage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E664066-A678-6F90-6182-9FF8A9E47A0D}"/>
              </a:ext>
            </a:extLst>
          </p:cNvPr>
          <p:cNvSpPr/>
          <p:nvPr/>
        </p:nvSpPr>
        <p:spPr>
          <a:xfrm>
            <a:off x="457200" y="1371600"/>
            <a:ext cx="5486400" cy="2136648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473E84-7327-5134-29E0-6F0F5DE59C5C}"/>
              </a:ext>
            </a:extLst>
          </p:cNvPr>
          <p:cNvSpPr/>
          <p:nvPr/>
        </p:nvSpPr>
        <p:spPr>
          <a:xfrm>
            <a:off x="457200" y="1371600"/>
            <a:ext cx="5486400" cy="497346"/>
          </a:xfrm>
          <a:prstGeom prst="rect">
            <a:avLst/>
          </a:prstGeom>
          <a:solidFill>
            <a:srgbClr val="ED4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2B7385-BBBA-CA8D-F7D2-CB5FA613E2F6}"/>
              </a:ext>
            </a:extLst>
          </p:cNvPr>
          <p:cNvSpPr txBox="1"/>
          <p:nvPr/>
        </p:nvSpPr>
        <p:spPr>
          <a:xfrm>
            <a:off x="594360" y="1417320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👥 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Felhasználók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C8B7F-AD21-B523-00EB-D26508362EA3}"/>
              </a:ext>
            </a:extLst>
          </p:cNvPr>
          <p:cNvSpPr txBox="1"/>
          <p:nvPr/>
        </p:nvSpPr>
        <p:spPr>
          <a:xfrm>
            <a:off x="640080" y="1874519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Real-time kereső (név / e-mail alapján)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6A6FA2-3701-3ABE-FC1C-C6D842E36C45}"/>
              </a:ext>
            </a:extLst>
          </p:cNvPr>
          <p:cNvSpPr txBox="1"/>
          <p:nvPr/>
        </p:nvSpPr>
        <p:spPr>
          <a:xfrm>
            <a:off x="640080" y="2249424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Szállítási és számlázási cím megtekintése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654277-6BFC-39AA-FFE1-C55B9828B9F1}"/>
              </a:ext>
            </a:extLst>
          </p:cNvPr>
          <p:cNvSpPr txBox="1"/>
          <p:nvPr/>
        </p:nvSpPr>
        <p:spPr>
          <a:xfrm>
            <a:off x="640080" y="2624327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Glassmorphism stílusú modal ablak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AE5E0C-E1FC-C5A5-4829-BB1F0566702C}"/>
              </a:ext>
            </a:extLst>
          </p:cNvPr>
          <p:cNvSpPr txBox="1"/>
          <p:nvPr/>
        </p:nvSpPr>
        <p:spPr>
          <a:xfrm>
            <a:off x="640080" y="2999232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▸  Felhasználó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törlése</a:t>
            </a:r>
            <a:r>
              <a:rPr b="0" dirty="0">
                <a:solidFill>
                  <a:srgbClr val="B9BBBE"/>
                </a:solidFill>
                <a:latin typeface="Calibri"/>
              </a:rPr>
              <a:t>: 'DELETE'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begépelése</a:t>
            </a:r>
            <a:r>
              <a:rPr b="0" dirty="0">
                <a:solidFill>
                  <a:srgbClr val="B9BBBE"/>
                </a:solidFill>
                <a:latin typeface="Calibri"/>
              </a:rPr>
              <a:t>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kötelező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84F9B5-1B21-F75C-BA0D-BC694E471BAF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Kép 39">
            <a:extLst>
              <a:ext uri="{FF2B5EF4-FFF2-40B4-BE49-F238E27FC236}">
                <a16:creationId xmlns:a16="http://schemas.microsoft.com/office/drawing/2014/main" id="{A1437293-CC1F-E866-6B0E-B7EC62AD4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8835" y="937924"/>
            <a:ext cx="4620270" cy="2362530"/>
          </a:xfrm>
          <a:prstGeom prst="rect">
            <a:avLst/>
          </a:prstGeom>
        </p:spPr>
      </p:pic>
      <p:pic>
        <p:nvPicPr>
          <p:cNvPr id="42" name="Kép 41">
            <a:extLst>
              <a:ext uri="{FF2B5EF4-FFF2-40B4-BE49-F238E27FC236}">
                <a16:creationId xmlns:a16="http://schemas.microsoft.com/office/drawing/2014/main" id="{83E8F647-8794-426F-05A0-5629675B3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756" y="3441888"/>
            <a:ext cx="4496427" cy="2876951"/>
          </a:xfrm>
          <a:prstGeom prst="rect">
            <a:avLst/>
          </a:prstGeom>
        </p:spPr>
      </p:pic>
      <p:pic>
        <p:nvPicPr>
          <p:cNvPr id="44" name="Kép 43">
            <a:extLst>
              <a:ext uri="{FF2B5EF4-FFF2-40B4-BE49-F238E27FC236}">
                <a16:creationId xmlns:a16="http://schemas.microsoft.com/office/drawing/2014/main" id="{6133A88D-6519-23C7-B535-F0CC3838C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63" y="4070866"/>
            <a:ext cx="6439799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8821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A5CBF-B404-A967-A13C-6CA0DF50D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8D958C-C085-AE7C-B94E-2EB4D9889FC5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47A0A-8948-53BE-3B71-D84CFE04F1B0}"/>
              </a:ext>
            </a:extLst>
          </p:cNvPr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Webes Adminisztrációs Felület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7ED6D-93E2-EC81-8D11-50CCC5F21FD4}"/>
              </a:ext>
            </a:extLst>
          </p:cNvPr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rgbClr val="99FF99"/>
                </a:solidFill>
                <a:latin typeface="Calibri"/>
              </a:rPr>
              <a:t>notrox.hu/</a:t>
            </a:r>
            <a:r>
              <a:rPr lang="hu-HU" dirty="0" err="1">
                <a:solidFill>
                  <a:srgbClr val="99FF99"/>
                </a:solidFill>
              </a:rPr>
              <a:t>product-list</a:t>
            </a:r>
            <a:r>
              <a:rPr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isAdmin</a:t>
            </a:r>
            <a:r>
              <a:rPr b="0" dirty="0">
                <a:solidFill>
                  <a:srgbClr val="99FF99"/>
                </a:solidFill>
                <a:latin typeface="Calibri"/>
              </a:rPr>
              <a:t>: true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jogkör</a:t>
            </a:r>
            <a:r>
              <a:rPr b="0" dirty="0">
                <a:solidFill>
                  <a:srgbClr val="99FF99"/>
                </a:solidFill>
                <a:latin typeface="Calibri"/>
              </a:rPr>
              <a:t> + JWT +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sessionStorage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F39B67-AC9E-0FA0-A617-2F1A5537DD1C}"/>
              </a:ext>
            </a:extLst>
          </p:cNvPr>
          <p:cNvSpPr/>
          <p:nvPr/>
        </p:nvSpPr>
        <p:spPr>
          <a:xfrm>
            <a:off x="502919" y="1221164"/>
            <a:ext cx="10536555" cy="1622061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0338A4-86C7-4AC4-8564-1B04F4A9AD57}"/>
              </a:ext>
            </a:extLst>
          </p:cNvPr>
          <p:cNvSpPr/>
          <p:nvPr/>
        </p:nvSpPr>
        <p:spPr>
          <a:xfrm>
            <a:off x="502919" y="1221164"/>
            <a:ext cx="10536555" cy="50292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CE8247-E75A-2744-0827-9749A068F277}"/>
              </a:ext>
            </a:extLst>
          </p:cNvPr>
          <p:cNvSpPr txBox="1"/>
          <p:nvPr/>
        </p:nvSpPr>
        <p:spPr>
          <a:xfrm>
            <a:off x="640080" y="1266884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Calibri"/>
              </a:rPr>
              <a:t>📦  </a:t>
            </a:r>
            <a:r>
              <a:rPr sz="2000" b="1" dirty="0" err="1">
                <a:latin typeface="Calibri"/>
              </a:rPr>
              <a:t>Termékek</a:t>
            </a:r>
            <a:endParaRPr sz="1400" b="1" dirty="0"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265A7E-5858-E435-962E-9487ECFCF256}"/>
              </a:ext>
            </a:extLst>
          </p:cNvPr>
          <p:cNvSpPr txBox="1"/>
          <p:nvPr/>
        </p:nvSpPr>
        <p:spPr>
          <a:xfrm>
            <a:off x="685800" y="1724084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Teljes</a:t>
            </a:r>
            <a:r>
              <a:rPr b="0" dirty="0">
                <a:solidFill>
                  <a:srgbClr val="B9BBBE"/>
                </a:solidFill>
                <a:latin typeface="Calibri"/>
              </a:rPr>
              <a:t>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kínálat</a:t>
            </a:r>
            <a:r>
              <a:rPr b="0" dirty="0">
                <a:solidFill>
                  <a:srgbClr val="B9BBBE"/>
                </a:solidFill>
                <a:latin typeface="Calibri"/>
              </a:rPr>
              <a:t>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listában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B31E56-B879-34FD-06FC-CFDD454AC070}"/>
              </a:ext>
            </a:extLst>
          </p:cNvPr>
          <p:cNvSpPr txBox="1"/>
          <p:nvPr/>
        </p:nvSpPr>
        <p:spPr>
          <a:xfrm>
            <a:off x="685800" y="2098989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Inline szerkesztés: ceruza ikon → beviteli mező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D3BADB-5C1F-5EF4-03C9-283807AE2FF1}"/>
              </a:ext>
            </a:extLst>
          </p:cNvPr>
          <p:cNvSpPr txBox="1"/>
          <p:nvPr/>
        </p:nvSpPr>
        <p:spPr>
          <a:xfrm>
            <a:off x="685800" y="2473893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B9BBBE"/>
                </a:solidFill>
                <a:latin typeface="Calibri"/>
              </a:rPr>
              <a:t>▸ 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Mentés</a:t>
            </a:r>
            <a:r>
              <a:rPr b="0" dirty="0">
                <a:solidFill>
                  <a:srgbClr val="B9BBBE"/>
                </a:solidFill>
                <a:latin typeface="Calibri"/>
              </a:rPr>
              <a:t>: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zöld</a:t>
            </a:r>
            <a:r>
              <a:rPr b="0" dirty="0">
                <a:solidFill>
                  <a:srgbClr val="B9BBBE"/>
                </a:solidFill>
                <a:latin typeface="Calibri"/>
              </a:rPr>
              <a:t> pipa →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aszinkron</a:t>
            </a:r>
            <a:r>
              <a:rPr b="0" dirty="0">
                <a:solidFill>
                  <a:srgbClr val="B9BBBE"/>
                </a:solidFill>
                <a:latin typeface="Calibri"/>
              </a:rPr>
              <a:t> PUT </a:t>
            </a:r>
            <a:r>
              <a:rPr b="0" dirty="0" err="1">
                <a:solidFill>
                  <a:srgbClr val="B9BBBE"/>
                </a:solidFill>
                <a:latin typeface="Calibri"/>
              </a:rPr>
              <a:t>kérés</a:t>
            </a:r>
            <a:endParaRPr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7F837E-3040-6EBB-EB63-2E06E1A63D77}"/>
              </a:ext>
            </a:extLst>
          </p:cNvPr>
          <p:cNvSpPr txBox="1"/>
          <p:nvPr/>
        </p:nvSpPr>
        <p:spPr>
          <a:xfrm>
            <a:off x="5806440" y="1781174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Új termék hozzáadása (/product-add)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733662-E1E9-5E4B-D54B-92646B8B8DDD}"/>
              </a:ext>
            </a:extLst>
          </p:cNvPr>
          <p:cNvSpPr txBox="1"/>
          <p:nvPr/>
        </p:nvSpPr>
        <p:spPr>
          <a:xfrm>
            <a:off x="5806440" y="2156078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B9BBBE"/>
                </a:solidFill>
                <a:latin typeface="Calibri"/>
              </a:rPr>
              <a:t>▸  Termék törlése megerősítő modallal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419090-DDB5-DB6D-33E7-15444B33DC8E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FF523E00-6269-5B7F-6818-331189716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960811"/>
            <a:ext cx="9888371" cy="360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27770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F150C-4BC7-9135-AEBC-277FC854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F4CF43-C0BE-184D-91E3-6CB021BB201E}"/>
              </a:ext>
            </a:extLst>
          </p:cNvPr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402B3-A9F1-5377-9856-4D3B2D593FB3}"/>
              </a:ext>
            </a:extLst>
          </p:cNvPr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Webes Adminisztrációs Felület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777184-0A5A-59D3-5531-146D185E6F21}"/>
              </a:ext>
            </a:extLst>
          </p:cNvPr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dirty="0">
                <a:solidFill>
                  <a:srgbClr val="99FF99"/>
                </a:solidFill>
                <a:latin typeface="Calibri"/>
              </a:rPr>
              <a:t>notrox.hu/</a:t>
            </a:r>
            <a:r>
              <a:rPr lang="hu-HU" dirty="0" err="1">
                <a:solidFill>
                  <a:srgbClr val="99FF99"/>
                </a:solidFill>
              </a:rPr>
              <a:t>order-list</a:t>
            </a:r>
            <a:r>
              <a:rPr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isAdmin</a:t>
            </a:r>
            <a:r>
              <a:rPr b="0" dirty="0">
                <a:solidFill>
                  <a:srgbClr val="99FF99"/>
                </a:solidFill>
                <a:latin typeface="Calibri"/>
              </a:rPr>
              <a:t>: true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jogkör</a:t>
            </a:r>
            <a:r>
              <a:rPr b="0" dirty="0">
                <a:solidFill>
                  <a:srgbClr val="99FF99"/>
                </a:solidFill>
                <a:latin typeface="Calibri"/>
              </a:rPr>
              <a:t> + JWT +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sessionStorage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09EA261-2BD5-B804-50AE-163BF9DC1970}"/>
              </a:ext>
            </a:extLst>
          </p:cNvPr>
          <p:cNvSpPr/>
          <p:nvPr/>
        </p:nvSpPr>
        <p:spPr>
          <a:xfrm>
            <a:off x="457200" y="1179576"/>
            <a:ext cx="5486400" cy="24231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F8E95A-B088-7287-2894-5A5E70153059}"/>
              </a:ext>
            </a:extLst>
          </p:cNvPr>
          <p:cNvSpPr/>
          <p:nvPr/>
        </p:nvSpPr>
        <p:spPr>
          <a:xfrm>
            <a:off x="457200" y="1179575"/>
            <a:ext cx="5486400" cy="466569"/>
          </a:xfrm>
          <a:prstGeom prst="rect">
            <a:avLst/>
          </a:prstGeom>
          <a:solidFill>
            <a:srgbClr val="FEE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E56EB5-C70B-1E34-B43B-5A7077D37C7D}"/>
              </a:ext>
            </a:extLst>
          </p:cNvPr>
          <p:cNvSpPr txBox="1"/>
          <p:nvPr/>
        </p:nvSpPr>
        <p:spPr>
          <a:xfrm>
            <a:off x="594360" y="1225296"/>
            <a:ext cx="5212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23272A"/>
                </a:solidFill>
                <a:latin typeface="Calibri"/>
              </a:rPr>
              <a:t>📋  </a:t>
            </a:r>
            <a:r>
              <a:rPr sz="2000" b="1" dirty="0" err="1">
                <a:solidFill>
                  <a:srgbClr val="23272A"/>
                </a:solidFill>
                <a:latin typeface="Calibri"/>
              </a:rPr>
              <a:t>Rendelések</a:t>
            </a:r>
            <a:endParaRPr sz="2000" b="1" dirty="0">
              <a:solidFill>
                <a:srgbClr val="23272A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7FB4D1-5F41-74E0-46EF-A19AA0C03125}"/>
              </a:ext>
            </a:extLst>
          </p:cNvPr>
          <p:cNvSpPr txBox="1"/>
          <p:nvPr/>
        </p:nvSpPr>
        <p:spPr>
          <a:xfrm>
            <a:off x="640080" y="1682496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Összes rendelés időrendben (legfrissebb felül)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B09072-24C3-506A-7058-672936CA5095}"/>
              </a:ext>
            </a:extLst>
          </p:cNvPr>
          <p:cNvSpPr txBox="1"/>
          <p:nvPr/>
        </p:nvSpPr>
        <p:spPr>
          <a:xfrm>
            <a:off x="640080" y="2057401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Rendelési fázis módosítása: ceruza → dropdown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081BA2-0ECB-43A4-CDCA-6082D0BAD5D0}"/>
              </a:ext>
            </a:extLst>
          </p:cNvPr>
          <p:cNvSpPr txBox="1"/>
          <p:nvPr/>
        </p:nvSpPr>
        <p:spPr>
          <a:xfrm>
            <a:off x="640080" y="2432305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Állapotok: Feldolgozás → Kiszállítva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3277DF-9A9F-4088-CF8B-B83EE31E3711}"/>
              </a:ext>
            </a:extLst>
          </p:cNvPr>
          <p:cNvSpPr txBox="1"/>
          <p:nvPr/>
        </p:nvSpPr>
        <p:spPr>
          <a:xfrm>
            <a:off x="640080" y="2807208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Vásárló azonnal látja a frissítést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F93209-9DA5-CA8A-F41B-EA8A422B887A}"/>
              </a:ext>
            </a:extLst>
          </p:cNvPr>
          <p:cNvSpPr txBox="1"/>
          <p:nvPr/>
        </p:nvSpPr>
        <p:spPr>
          <a:xfrm>
            <a:off x="640080" y="318211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▸  Mobilon kártya alapú nézet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806764-C113-13A9-550A-299A0BD89994}"/>
              </a:ext>
            </a:extLst>
          </p:cNvPr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Kép 37">
            <a:extLst>
              <a:ext uri="{FF2B5EF4-FFF2-40B4-BE49-F238E27FC236}">
                <a16:creationId xmlns:a16="http://schemas.microsoft.com/office/drawing/2014/main" id="{F086D183-609E-A927-32E0-46C5C3497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00" y="4094271"/>
            <a:ext cx="9307224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61960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WPF Asztali Admin Alkalmazás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99FF99"/>
                </a:solidFill>
                <a:latin typeface="Calibri"/>
              </a:rPr>
              <a:t>Windows • C# • .NET 8 • MVVM • </a:t>
            </a:r>
            <a:r>
              <a:rPr sz="1600" b="0" dirty="0" err="1">
                <a:solidFill>
                  <a:srgbClr val="99FF99"/>
                </a:solidFill>
                <a:latin typeface="Calibri"/>
              </a:rPr>
              <a:t>CommunityToolkit.Mvvm</a:t>
            </a:r>
            <a:endParaRPr sz="1600"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486400" cy="52120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486400" cy="45720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80744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⚙️ 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Funkciók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👤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Felhasználók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25856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Listázás, keresés, törlés — kártyás nézet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📋 Rendelések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Összes rendelés listázva — fázis módosítható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📦 Termékek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7647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Szerkesztés, törlés, új termék hozzáadása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97096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🔍 Globális keresés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3542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Valós idejű szűrés minden nézetben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5604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📊 CSV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9437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Jelenlegi nézet exportálása CSV fájlba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150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📍 Cím kezelés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Szállítási és számlázási cím szerkesztés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325880"/>
            <a:ext cx="5394960" cy="52120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25880"/>
            <a:ext cx="5394960" cy="457200"/>
          </a:xfrm>
          <a:prstGeom prst="rect">
            <a:avLst/>
          </a:prstGeom>
          <a:solidFill>
            <a:srgbClr val="57F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380744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🏗️  Architektúra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92024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MVVM Minta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25856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Model / View / ViewModel rétegek szétválasztva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79192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ServerConnection.cs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017520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HTTPS kötelező — ArgumentException HTTP-re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3814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Session.cs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76472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Bejelentkezett admin neve statikusan tárolva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97096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ISearchable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35424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Interfész minden nézetben — keresés egységes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95604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ObservableCollection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294376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UI automatikusan frissül adatváltozásra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7150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AsyncRelayCommand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605332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Aszinkron bejelentkezési folyamat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Avalonia Mobilalkalmazás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Android &amp; Desktop • C# • Avalonia UI • MVVM •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Platformfüggetlen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754880" cy="128016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3256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99FF99"/>
                </a:solidFill>
                <a:latin typeface="Calibri"/>
              </a:rPr>
              <a:t>📱  </a:t>
            </a:r>
            <a:r>
              <a:rPr lang="hu-HU" sz="2000" b="1" dirty="0">
                <a:solidFill>
                  <a:srgbClr val="99FF99"/>
                </a:solidFill>
                <a:latin typeface="Calibri"/>
              </a:rPr>
              <a:t>Android </a:t>
            </a:r>
            <a:r>
              <a:rPr sz="2000" b="1" dirty="0">
                <a:solidFill>
                  <a:srgbClr val="99FF99"/>
                </a:solidFill>
                <a:latin typeface="Calibri"/>
              </a:rPr>
              <a:t>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8701" y="2084832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FFFFFF"/>
                </a:solidFill>
                <a:latin typeface="Calibri"/>
              </a:rPr>
              <a:t>Navigáció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75606" y="1884609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sz="2000" b="0" dirty="0">
                <a:solidFill>
                  <a:srgbClr val="FFFFFF"/>
                </a:solidFill>
                <a:latin typeface="Calibri"/>
              </a:rPr>
              <a:t>Kereső sáv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26080" y="1654223"/>
            <a:ext cx="301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FFFFFF"/>
                </a:solidFill>
                <a:latin typeface="Calibri"/>
              </a:rPr>
              <a:t>Elrendezés</a:t>
            </a:r>
            <a:endParaRPr sz="2000"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" y="29718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3136392"/>
            <a:ext cx="54864" cy="12801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30815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👥 Felhasználók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B9BBBE"/>
                </a:solidFill>
                <a:latin typeface="Calibri"/>
              </a:rPr>
              <a:t>Listázás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keresés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szerkesztés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törlés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— Edit/Delete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gombokkal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B9BBBE"/>
                </a:solidFill>
                <a:latin typeface="Calibri"/>
              </a:rPr>
              <a:t>kártyákon</a:t>
            </a:r>
            <a:endParaRPr sz="16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29718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3136392"/>
            <a:ext cx="54864" cy="12801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08152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📦 Termékek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47472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Teljes árukészlet valós időben — Edit: adatok szerkeszthetővé válnak, Delete: töröl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75488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919472"/>
            <a:ext cx="54864" cy="12801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486460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📋 Rendelések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25780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Növekvő sorrendben, azonosítóval — fázis dropdown-ból állítható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919472"/>
            <a:ext cx="54864" cy="128016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4864608"/>
            <a:ext cx="5120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➕ Új termék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257800"/>
            <a:ext cx="5120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Strukturált űrlap — név, leírás, ár, készlet, gyártó dropdown, kép URL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400800"/>
            <a:ext cx="11247120" cy="320040"/>
          </a:xfrm>
          <a:prstGeom prst="roundRect">
            <a:avLst>
              <a:gd name="adj" fmla="val 5000"/>
            </a:avLst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40080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B9BBBE"/>
                </a:solidFill>
                <a:latin typeface="Calibri"/>
              </a:rPr>
              <a:t>ℹ️  Az Avalonia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alkalmazás</a:t>
            </a:r>
            <a:r>
              <a:rPr sz="14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funkcionálisan</a:t>
            </a:r>
            <a:r>
              <a:rPr sz="14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megegyezik</a:t>
            </a:r>
            <a:r>
              <a:rPr sz="1400" b="0" dirty="0">
                <a:solidFill>
                  <a:srgbClr val="B9BBBE"/>
                </a:solidFill>
                <a:latin typeface="Calibri"/>
              </a:rPr>
              <a:t> a WPF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verzióval</a:t>
            </a:r>
            <a:r>
              <a:rPr sz="1400" b="0" dirty="0">
                <a:solidFill>
                  <a:srgbClr val="B9BBBE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platformfüggetlen</a:t>
            </a:r>
            <a:r>
              <a:rPr sz="1400" b="0" dirty="0">
                <a:solidFill>
                  <a:srgbClr val="B9BBBE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megvalósítással</a:t>
            </a:r>
            <a:r>
              <a:rPr sz="1400" b="0" dirty="0">
                <a:solidFill>
                  <a:srgbClr val="B9BBBE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azonos</a:t>
            </a:r>
            <a:r>
              <a:rPr sz="1400" b="0" dirty="0">
                <a:solidFill>
                  <a:srgbClr val="B9BBBE"/>
                </a:solidFill>
                <a:latin typeface="Calibri"/>
              </a:rPr>
              <a:t> REST API </a:t>
            </a:r>
            <a:r>
              <a:rPr sz="1400" b="0" dirty="0" err="1">
                <a:solidFill>
                  <a:srgbClr val="B9BBBE"/>
                </a:solidFill>
                <a:latin typeface="Calibri"/>
              </a:rPr>
              <a:t>használatával</a:t>
            </a:r>
            <a:endParaRPr sz="14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Kép 14">
            <a:extLst>
              <a:ext uri="{FF2B5EF4-FFF2-40B4-BE49-F238E27FC236}">
                <a16:creationId xmlns:a16="http://schemas.microsoft.com/office/drawing/2014/main" id="{424C8C4E-467A-14B4-B66B-FD739F255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582476"/>
            <a:ext cx="3667637" cy="2172003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WPF vs Avalonia — Különbségek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 err="1">
                <a:solidFill>
                  <a:srgbClr val="99FF99"/>
                </a:solidFill>
                <a:latin typeface="Calibri"/>
              </a:rPr>
              <a:t>Azonos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logika</a:t>
            </a:r>
            <a:r>
              <a:rPr b="0" dirty="0">
                <a:solidFill>
                  <a:srgbClr val="99FF99"/>
                </a:solidFill>
                <a:latin typeface="Calibri"/>
              </a:rPr>
              <a:t>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eltérő</a:t>
            </a:r>
            <a:r>
              <a:rPr b="0" dirty="0">
                <a:solidFill>
                  <a:srgbClr val="99FF99"/>
                </a:solidFill>
                <a:latin typeface="Calibri"/>
              </a:rPr>
              <a:t> platform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és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szintaxis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457200"/>
          </a:xfrm>
          <a:prstGeom prst="roundRect">
            <a:avLst>
              <a:gd name="adj" fmla="val 5000"/>
            </a:avLst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0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Jellemző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7160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WPF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37160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Avalonia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47120" cy="594360"/>
          </a:xfrm>
          <a:prstGeom prst="rect">
            <a:avLst/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1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FFFFFF"/>
                </a:solidFill>
                <a:latin typeface="Calibri"/>
              </a:rPr>
              <a:t>UI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993391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Windows Presentation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9339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F287"/>
                </a:solidFill>
                <a:latin typeface="Calibri"/>
              </a:rPr>
              <a:t>Avalonia UI (cross-platform)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42032"/>
            <a:ext cx="11247120" cy="594360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660903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Nézet kiterjesztés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660903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.xaml fájlok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60903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F287"/>
                </a:solidFill>
                <a:latin typeface="Calibri"/>
              </a:rPr>
              <a:t>.axaml fájlok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9544"/>
            <a:ext cx="11247120" cy="594360"/>
          </a:xfrm>
          <a:prstGeom prst="rect">
            <a:avLst/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328415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Ablakkezelés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328415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Window.Show() / Close()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28415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F287"/>
                </a:solidFill>
                <a:latin typeface="Calibri"/>
              </a:rPr>
              <a:t>CurrentView csere MainViewModel-ben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77056"/>
            <a:ext cx="11247120" cy="594360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995928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995928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Csak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995928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F287"/>
                </a:solidFill>
                <a:latin typeface="Calibri"/>
              </a:rPr>
              <a:t>Android &amp; Desktop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44568"/>
            <a:ext cx="11247120" cy="594360"/>
          </a:xfrm>
          <a:prstGeom prst="rect">
            <a:avLst/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PasswordBox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663440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WPF natív + AsyncRelayCommand&lt;object&gt;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663440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F287"/>
                </a:solidFill>
                <a:latin typeface="Calibri"/>
              </a:rPr>
              <a:t>Avalonia TextBox (PasswordChar mód)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79"/>
            <a:ext cx="11247120" cy="594360"/>
          </a:xfrm>
          <a:prstGeom prst="rect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330951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Assert szintaxis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330951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Assert.ThrowsException&lt;T&gt;()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330951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F287"/>
                </a:solidFill>
                <a:latin typeface="Calibri"/>
              </a:rPr>
              <a:t>Assert.Throws&lt;T&gt;()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879592"/>
            <a:ext cx="11247120" cy="594360"/>
          </a:xfrm>
          <a:prstGeom prst="rect">
            <a:avLst/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998464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Navigáció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998464"/>
            <a:ext cx="356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9BBBE"/>
                </a:solidFill>
                <a:latin typeface="Calibri"/>
              </a:rPr>
              <a:t>Bal oldali NavigationBar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998464"/>
            <a:ext cx="3657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7F287"/>
                </a:solidFill>
                <a:latin typeface="Calibri"/>
              </a:rPr>
              <a:t>MainViewModel CurrentView property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99FF99"/>
                </a:solidFill>
                <a:latin typeface="Calibri"/>
              </a:rPr>
              <a:t>NOTROX —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komplex</a:t>
            </a:r>
            <a:r>
              <a:rPr b="0" dirty="0">
                <a:solidFill>
                  <a:srgbClr val="99FF99"/>
                </a:solidFill>
                <a:latin typeface="Calibri"/>
              </a:rPr>
              <a:t> gaming platform,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három</a:t>
            </a:r>
            <a:r>
              <a:rPr b="0" dirty="0">
                <a:solidFill>
                  <a:srgbClr val="99FF99"/>
                </a:solidFill>
                <a:latin typeface="Calibri"/>
              </a:rPr>
              <a:t> </a:t>
            </a:r>
            <a:r>
              <a:rPr b="0" dirty="0" err="1">
                <a:solidFill>
                  <a:srgbClr val="99FF99"/>
                </a:solidFill>
                <a:latin typeface="Calibri"/>
              </a:rPr>
              <a:t>kliensalkalmazással</a:t>
            </a:r>
            <a:endParaRPr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5865F2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 err="1">
                <a:solidFill>
                  <a:srgbClr val="B9BBBE"/>
                </a:solidFill>
                <a:latin typeface="Calibri"/>
              </a:rPr>
              <a:t>Kliens</a:t>
            </a:r>
            <a:r>
              <a:rPr sz="1600" b="0" dirty="0">
                <a:solidFill>
                  <a:srgbClr val="B9BBBE"/>
                </a:solidFill>
                <a:latin typeface="Calibri"/>
              </a:rPr>
              <a:t>
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0" y="1444752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57F287"/>
                </a:solidFill>
                <a:latin typeface="Calibri"/>
              </a:rPr>
              <a:t>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BBBE"/>
                </a:solidFill>
                <a:latin typeface="Calibri"/>
              </a:rPr>
              <a:t>Teszteset
100%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444752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D4345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8600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BBBE"/>
                </a:solidFill>
                <a:latin typeface="Calibri"/>
              </a:rPr>
              <a:t>Javított
hiba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606040" cy="155448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444752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EE75C"/>
                </a:solidFill>
                <a:latin typeface="Calibri"/>
              </a:rPr>
              <a:t>8+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86000"/>
            <a:ext cx="2606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9BBBE"/>
                </a:solidFill>
                <a:latin typeface="Calibri"/>
              </a:rPr>
              <a:t>REST API
végpont csoport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11247120" cy="118872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17296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Calibri"/>
              </a:rPr>
              <a:t>🛠️  Technológiai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99FF99"/>
                </a:solidFill>
                <a:latin typeface="Calibri"/>
              </a:rPr>
              <a:t>Node.js + Express.js   |   MySQL + </a:t>
            </a:r>
            <a:r>
              <a:rPr sz="1600" b="0" dirty="0" err="1">
                <a:solidFill>
                  <a:srgbClr val="99FF99"/>
                </a:solidFill>
                <a:latin typeface="Calibri"/>
              </a:rPr>
              <a:t>Sequelize</a:t>
            </a:r>
            <a:r>
              <a:rPr sz="1600" b="0" dirty="0">
                <a:solidFill>
                  <a:srgbClr val="99FF99"/>
                </a:solidFill>
                <a:latin typeface="Calibri"/>
              </a:rPr>
              <a:t> ORM   |   JWT </a:t>
            </a:r>
            <a:r>
              <a:rPr sz="1600" b="0" dirty="0" err="1">
                <a:solidFill>
                  <a:srgbClr val="99FF99"/>
                </a:solidFill>
                <a:latin typeface="Calibri"/>
              </a:rPr>
              <a:t>hitelesítés</a:t>
            </a:r>
            <a:r>
              <a:rPr sz="1600" b="0" dirty="0">
                <a:solidFill>
                  <a:srgbClr val="99FF99"/>
                </a:solidFill>
                <a:latin typeface="Calibri"/>
              </a:rPr>
              <a:t>   |   </a:t>
            </a:r>
            <a:r>
              <a:rPr sz="1600" b="0" dirty="0" err="1">
                <a:solidFill>
                  <a:srgbClr val="99FF99"/>
                </a:solidFill>
                <a:latin typeface="Calibri"/>
              </a:rPr>
              <a:t>bcrypt</a:t>
            </a:r>
            <a:r>
              <a:rPr sz="1600" b="0" dirty="0">
                <a:solidFill>
                  <a:srgbClr val="99FF99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99FF99"/>
                </a:solidFill>
                <a:latin typeface="Calibri"/>
              </a:rPr>
              <a:t>jelszóhashelés</a:t>
            </a:r>
            <a:r>
              <a:rPr sz="1600" b="0" dirty="0">
                <a:solidFill>
                  <a:srgbClr val="99FF99"/>
                </a:solidFill>
                <a:latin typeface="Calibri"/>
              </a:rPr>
              <a:t>   |   Bootstrap 5.3   |   C# + WPF   |   Avalonia UI   |   </a:t>
            </a:r>
            <a:r>
              <a:rPr sz="1600" b="0" dirty="0" err="1">
                <a:solidFill>
                  <a:srgbClr val="99FF99"/>
                </a:solidFill>
                <a:latin typeface="Calibri"/>
              </a:rPr>
              <a:t>MSTest</a:t>
            </a:r>
            <a:r>
              <a:rPr sz="1600" b="0" dirty="0">
                <a:solidFill>
                  <a:srgbClr val="99FF99"/>
                </a:solidFill>
                <a:latin typeface="Calibri"/>
              </a:rPr>
              <a:t> + Jest + </a:t>
            </a:r>
            <a:r>
              <a:rPr sz="1600" b="0" dirty="0" err="1">
                <a:solidFill>
                  <a:srgbClr val="99FF99"/>
                </a:solidFill>
                <a:latin typeface="Calibri"/>
              </a:rPr>
              <a:t>Supertest</a:t>
            </a:r>
            <a:endParaRPr sz="1600" b="0" dirty="0">
              <a:solidFill>
                <a:srgbClr val="99FF99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5669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✅  REST API tervezés és implementáció — Node.js + Express.js + Sequelize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480560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✅  JWT alapú hitelesítési rendszer — bcrypt jelszóvédelem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48072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✅  WPF MVVM alkalmazás — CommunityToolkit.Mvvm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48072"/>
            <a:ext cx="5669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✅  Avalonia UI mobilalkalmazás — Android platformon is futtatható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15584"/>
            <a:ext cx="5669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✅  Reszponzív Bootstrap 5.3 web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815584"/>
            <a:ext cx="5669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9BBBE"/>
                </a:solidFill>
                <a:latin typeface="Calibri"/>
              </a:rPr>
              <a:t>✅  Automata tesztelési infrastruktúra — MSTest + Jest + Supertest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400800"/>
            <a:ext cx="11247120" cy="320040"/>
          </a:xfrm>
          <a:prstGeom prst="roundRect">
            <a:avLst>
              <a:gd name="adj" fmla="val 5000"/>
            </a:avLst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428232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BBBE"/>
                </a:solidFill>
                <a:latin typeface="Calibri"/>
              </a:rPr>
              <a:t>🚀  Tervek: E-mail értesítések  •  Valós fizetési integráció (Stripe/Barion)  •  React frontend  •  Playwright E2E tesztek  •  Push értesítések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6400800" cy="6400800"/>
          </a:xfrm>
          <a:prstGeom prst="ellipse">
            <a:avLst/>
          </a:prstGeom>
          <a:solidFill>
            <a:srgbClr val="2C2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NOTROX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5865F2"/>
                </a:solidFill>
                <a:latin typeface="Calibri"/>
              </a:rPr>
              <a:t>Gaming </a:t>
            </a:r>
            <a:r>
              <a:rPr sz="2200" b="1" dirty="0" err="1">
                <a:solidFill>
                  <a:srgbClr val="5865F2"/>
                </a:solidFill>
                <a:latin typeface="Calibri"/>
              </a:rPr>
              <a:t>Webshop</a:t>
            </a:r>
            <a:r>
              <a:rPr sz="2200" b="1" dirty="0">
                <a:solidFill>
                  <a:srgbClr val="5865F2"/>
                </a:solidFill>
                <a:latin typeface="Calibri"/>
              </a:rPr>
              <a:t>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880360"/>
            <a:ext cx="4873752" cy="4572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 err="1">
                <a:solidFill>
                  <a:srgbClr val="B9BBBE"/>
                </a:solidFill>
                <a:latin typeface="Calibri"/>
              </a:rPr>
              <a:t>Készítette</a:t>
            </a:r>
            <a:r>
              <a:rPr lang="hu-HU" sz="1400" b="0" dirty="0">
                <a:solidFill>
                  <a:srgbClr val="B9BBBE"/>
                </a:solidFill>
                <a:latin typeface="Calibri"/>
              </a:rPr>
              <a:t>:</a:t>
            </a:r>
            <a:endParaRPr sz="1400" b="0" dirty="0">
              <a:solidFill>
                <a:srgbClr val="B9BBBE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286000" y="3520440"/>
            <a:ext cx="7616952" cy="1645920"/>
          </a:xfrm>
          <a:prstGeom prst="roundRect">
            <a:avLst>
              <a:gd name="adj" fmla="val 5000"/>
            </a:avLst>
          </a:prstGeom>
          <a:solidFill>
            <a:srgbClr val="404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3639312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★  Gróf Richárd László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114800"/>
            <a:ext cx="76169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★  Molnár Márk</a:t>
            </a:r>
            <a:r>
              <a:rPr lang="hu-HU" sz="1600" b="1" dirty="0">
                <a:solidFill>
                  <a:srgbClr val="FFFFFF"/>
                </a:solidFill>
                <a:latin typeface="Calibri"/>
              </a:rPr>
              <a:t> Krisztián</a:t>
            </a:r>
            <a:endParaRPr sz="1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6000" y="4590288"/>
            <a:ext cx="7616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★  Péjó Kristóf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9BBBE"/>
                </a:solidFill>
                <a:latin typeface="Calibri"/>
              </a:rPr>
              <a:t>Budapesti Műszaki SZC Egressy Gábor Két Tanítási Nyelvű Technikum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865F2"/>
                </a:solidFill>
                <a:latin typeface="Calibri"/>
              </a:rPr>
              <a:t>Szoftverfejlesztő vizsgaremek  •  2025–2026  •  notrox.hu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362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Köszönjük a figyelmet!</a:t>
            </a: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1913</Words>
  <Application>Microsoft Office PowerPoint</Application>
  <PresentationFormat>Egyéni</PresentationFormat>
  <Paragraphs>386</Paragraphs>
  <Slides>25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O365 felhasználó</cp:lastModifiedBy>
  <cp:revision>4</cp:revision>
  <dcterms:created xsi:type="dcterms:W3CDTF">2013-01-27T09:14:16Z</dcterms:created>
  <dcterms:modified xsi:type="dcterms:W3CDTF">2026-05-19T21:01:26Z</dcterms:modified>
  <cp:category/>
</cp:coreProperties>
</file>